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notesMasterIdLst>
    <p:notesMasterId r:id="rId1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notesMaster" Target="notesMasters/notesMaster1.xml"/><Relationship Id="rId15" Type="http://schemas.openxmlformats.org/officeDocument/2006/relationships/presProps" Target="presProps.xml"/><Relationship Id="rId16" Type="http://schemas.openxmlformats.org/officeDocument/2006/relationships/viewProps" Target="viewProps.xml"/><Relationship Id="rId17" Type="http://schemas.openxmlformats.org/officeDocument/2006/relationships/theme" Target="theme/theme1.xml"/><Relationship Id="rId18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image" Target="../media/image-3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image" Target="../media/image-4-7.png"/><Relationship Id="rId8" Type="http://schemas.openxmlformats.org/officeDocument/2006/relationships/image" Target="../media/image-4-8.png"/><Relationship Id="rId9" Type="http://schemas.openxmlformats.org/officeDocument/2006/relationships/image" Target="../media/image-4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image" Target="../media/image-10-5.png"/><Relationship Id="rId6" Type="http://schemas.openxmlformats.org/officeDocument/2006/relationships/image" Target="../media/image-10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2938" y="1624505"/>
            <a:ext cx="4714875" cy="15087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4000"/>
              </a:lnSpc>
              <a:buNone/>
            </a:pPr>
            <a:r>
              <a:rPr lang="en-US" sz="3294" b="1" dirty="0">
                <a:solidFill>
                  <a:srgbClr val="102A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Real-Time Anomaly Detection in ICS/OT using Behavioral EDR</a:t>
            </a:r>
            <a:endParaRPr lang="en-US" sz="3294" dirty="0"/>
          </a:p>
        </p:txBody>
      </p:sp>
      <p:sp>
        <p:nvSpPr>
          <p:cNvPr id="4" name="Text 1"/>
          <p:cNvSpPr/>
          <p:nvPr/>
        </p:nvSpPr>
        <p:spPr>
          <a:xfrm>
            <a:off x="642938" y="3304682"/>
            <a:ext cx="4714875" cy="4143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269" dirty="0">
                <a:solidFill>
                  <a:srgbClr val="028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Multi-Layered Statistical Defense for Critical Infrastructure</a:t>
            </a:r>
            <a:endParaRPr lang="en-US" sz="1269" dirty="0"/>
          </a:p>
        </p:txBody>
      </p:sp>
      <p:sp>
        <p:nvSpPr>
          <p:cNvPr id="5" name="Shape 2"/>
          <p:cNvSpPr/>
          <p:nvPr/>
        </p:nvSpPr>
        <p:spPr>
          <a:xfrm>
            <a:off x="5750719" y="1632347"/>
            <a:ext cx="2750344" cy="187880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Shape 3"/>
          <p:cNvSpPr/>
          <p:nvPr/>
        </p:nvSpPr>
        <p:spPr>
          <a:xfrm>
            <a:off x="5750719" y="1632347"/>
            <a:ext cx="2750344" cy="28575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7" name="Text 4"/>
          <p:cNvSpPr/>
          <p:nvPr/>
        </p:nvSpPr>
        <p:spPr>
          <a:xfrm>
            <a:off x="6036469" y="1932384"/>
            <a:ext cx="2178844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spc="1" kern="0" dirty="0">
                <a:solidFill>
                  <a:srgbClr val="028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PRESENTED BY</a:t>
            </a:r>
            <a:endParaRPr lang="en-US" sz="621" dirty="0"/>
          </a:p>
        </p:txBody>
      </p:sp>
      <p:sp>
        <p:nvSpPr>
          <p:cNvPr id="8" name="Text 5"/>
          <p:cNvSpPr/>
          <p:nvPr/>
        </p:nvSpPr>
        <p:spPr>
          <a:xfrm>
            <a:off x="6036469" y="2066330"/>
            <a:ext cx="21788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0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Safna S</a:t>
            </a:r>
            <a:endParaRPr lang="en-US" sz="885" dirty="0"/>
          </a:p>
        </p:txBody>
      </p:sp>
      <p:sp>
        <p:nvSpPr>
          <p:cNvPr id="9" name="Text 6"/>
          <p:cNvSpPr/>
          <p:nvPr/>
        </p:nvSpPr>
        <p:spPr>
          <a:xfrm>
            <a:off x="6036469" y="2364581"/>
            <a:ext cx="2178844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spc="1" kern="0" dirty="0">
                <a:solidFill>
                  <a:srgbClr val="028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DOMAIN</a:t>
            </a:r>
            <a:endParaRPr lang="en-US" sz="621" dirty="0"/>
          </a:p>
        </p:txBody>
      </p:sp>
      <p:sp>
        <p:nvSpPr>
          <p:cNvPr id="10" name="Text 7"/>
          <p:cNvSpPr/>
          <p:nvPr/>
        </p:nvSpPr>
        <p:spPr>
          <a:xfrm>
            <a:off x="6036469" y="2498527"/>
            <a:ext cx="2178844" cy="15537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885" b="1" dirty="0">
                <a:solidFill>
                  <a:srgbClr val="10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 Security</a:t>
            </a:r>
            <a:endParaRPr lang="en-US" sz="885" dirty="0"/>
          </a:p>
        </p:txBody>
      </p:sp>
      <p:sp>
        <p:nvSpPr>
          <p:cNvPr id="11" name="Text 8"/>
          <p:cNvSpPr/>
          <p:nvPr/>
        </p:nvSpPr>
        <p:spPr>
          <a:xfrm>
            <a:off x="6036469" y="2796778"/>
            <a:ext cx="2178844" cy="10537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621" spc="1" kern="0" dirty="0">
                <a:solidFill>
                  <a:srgbClr val="028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GUIDED BY</a:t>
            </a:r>
            <a:endParaRPr lang="en-US" sz="621" dirty="0"/>
          </a:p>
        </p:txBody>
      </p:sp>
      <p:sp>
        <p:nvSpPr>
          <p:cNvPr id="12" name="Text 9"/>
          <p:cNvSpPr/>
          <p:nvPr/>
        </p:nvSpPr>
        <p:spPr>
          <a:xfrm>
            <a:off x="6036469" y="2930723"/>
            <a:ext cx="140910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Rahul R, Assistant Profess</a:t>
            </a:r>
            <a:endParaRPr lang="en-US" sz="834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2938" y="428625"/>
            <a:ext cx="785812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02A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Critical Need for ICS/OT-Specific Security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642938" y="1271588"/>
            <a:ext cx="3821906" cy="152440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642938" y="1271588"/>
            <a:ext cx="3821906" cy="28575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514475"/>
            <a:ext cx="171450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35856" y="1485900"/>
            <a:ext cx="2023467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02A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Continuous Data Streams</a:t>
            </a:r>
            <a:endParaRPr lang="en-US" sz="1193" dirty="0"/>
          </a:p>
        </p:txBody>
      </p:sp>
      <p:sp>
        <p:nvSpPr>
          <p:cNvPr id="8" name="Text 4"/>
          <p:cNvSpPr/>
          <p:nvPr/>
        </p:nvSpPr>
        <p:spPr>
          <a:xfrm>
            <a:off x="857250" y="1935956"/>
            <a:ext cx="3393281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621" dirty="0">
                <a:solidFill>
                  <a:srgbClr val="00A8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r>
              <a:rPr lang="en-US" sz="942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ICS data consists of continuous sensor </a:t>
            </a:r>
            <a:r>
              <a:rPr lang="en-US" sz="942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measurements (flow, pressure, level), not discrete files </a:t>
            </a:r>
            <a:r>
              <a:rPr lang="en-US" sz="942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 network packets.</a:t>
            </a:r>
            <a:endParaRPr lang="en-US" sz="942" dirty="0"/>
          </a:p>
        </p:txBody>
      </p:sp>
      <p:sp>
        <p:nvSpPr>
          <p:cNvPr id="9" name="Shape 5"/>
          <p:cNvSpPr/>
          <p:nvPr/>
        </p:nvSpPr>
        <p:spPr>
          <a:xfrm>
            <a:off x="4679156" y="1271588"/>
            <a:ext cx="3821906" cy="152440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6"/>
          <p:cNvSpPr/>
          <p:nvPr/>
        </p:nvSpPr>
        <p:spPr>
          <a:xfrm>
            <a:off x="4679156" y="1271588"/>
            <a:ext cx="3821906" cy="28575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93469" y="1514475"/>
            <a:ext cx="192881" cy="1714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5193506" y="1485900"/>
            <a:ext cx="1828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02A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Physical Consequences</a:t>
            </a:r>
            <a:endParaRPr lang="en-US" sz="1193" dirty="0"/>
          </a:p>
        </p:txBody>
      </p:sp>
      <p:sp>
        <p:nvSpPr>
          <p:cNvPr id="13" name="Text 8"/>
          <p:cNvSpPr/>
          <p:nvPr/>
        </p:nvSpPr>
        <p:spPr>
          <a:xfrm>
            <a:off x="4893469" y="1935956"/>
            <a:ext cx="3393281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621" dirty="0">
                <a:solidFill>
                  <a:srgbClr val="00A8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r>
              <a:rPr lang="en-US" sz="942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breach in OT can lead to physical damage, </a:t>
            </a:r>
            <a:r>
              <a:rPr lang="en-US" sz="942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environmental hazards, and direct threats to public </a:t>
            </a:r>
            <a:r>
              <a:rPr lang="en-US" sz="942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safety.</a:t>
            </a:r>
            <a:endParaRPr lang="en-US" sz="942" dirty="0"/>
          </a:p>
        </p:txBody>
      </p:sp>
      <p:sp>
        <p:nvSpPr>
          <p:cNvPr id="14" name="Shape 9"/>
          <p:cNvSpPr/>
          <p:nvPr/>
        </p:nvSpPr>
        <p:spPr>
          <a:xfrm>
            <a:off x="642938" y="2981734"/>
            <a:ext cx="3821906" cy="152440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0"/>
          <p:cNvSpPr/>
          <p:nvPr/>
        </p:nvSpPr>
        <p:spPr>
          <a:xfrm>
            <a:off x="642938" y="2981734"/>
            <a:ext cx="3821906" cy="28575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57250" y="3224622"/>
            <a:ext cx="171450" cy="1714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135856" y="3196047"/>
            <a:ext cx="166270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02A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Subtle Attack Vectors</a:t>
            </a:r>
            <a:endParaRPr lang="en-US" sz="1193" dirty="0"/>
          </a:p>
        </p:txBody>
      </p:sp>
      <p:sp>
        <p:nvSpPr>
          <p:cNvPr id="18" name="Text 12"/>
          <p:cNvSpPr/>
          <p:nvPr/>
        </p:nvSpPr>
        <p:spPr>
          <a:xfrm>
            <a:off x="857250" y="3646103"/>
            <a:ext cx="3393281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621" dirty="0">
                <a:solidFill>
                  <a:srgbClr val="00A8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r>
              <a:rPr lang="en-US" sz="942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Attacks often manifest as subtle sensor drifts that </a:t>
            </a:r>
            <a:r>
              <a:rPr lang="en-US" sz="942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stay within "acceptable" ranges but violate process </a:t>
            </a:r>
            <a:r>
              <a:rPr lang="en-US" sz="942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logic.</a:t>
            </a:r>
            <a:endParaRPr lang="en-US" sz="942" dirty="0"/>
          </a:p>
        </p:txBody>
      </p:sp>
      <p:sp>
        <p:nvSpPr>
          <p:cNvPr id="19" name="Shape 13"/>
          <p:cNvSpPr/>
          <p:nvPr/>
        </p:nvSpPr>
        <p:spPr>
          <a:xfrm>
            <a:off x="4679156" y="2981734"/>
            <a:ext cx="3821906" cy="152440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4"/>
          <p:cNvSpPr/>
          <p:nvPr/>
        </p:nvSpPr>
        <p:spPr>
          <a:xfrm>
            <a:off x="4679156" y="2981734"/>
            <a:ext cx="3821906" cy="28575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21" name="Text 15"/>
          <p:cNvSpPr/>
          <p:nvPr/>
        </p:nvSpPr>
        <p:spPr>
          <a:xfrm>
            <a:off x="5000625" y="3196047"/>
            <a:ext cx="147161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02A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Signature Gap</a:t>
            </a:r>
            <a:endParaRPr lang="en-US" sz="1193" dirty="0"/>
          </a:p>
        </p:txBody>
      </p:sp>
      <p:sp>
        <p:nvSpPr>
          <p:cNvPr id="22" name="Text 16"/>
          <p:cNvSpPr/>
          <p:nvPr/>
        </p:nvSpPr>
        <p:spPr>
          <a:xfrm>
            <a:off x="4893469" y="3646103"/>
            <a:ext cx="3393281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621" dirty="0">
                <a:solidFill>
                  <a:srgbClr val="00A8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r>
              <a:rPr lang="en-US" sz="942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Conventional tools cannot detect zero-day attacks </a:t>
            </a:r>
            <a:r>
              <a:rPr lang="en-US" sz="942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that have no pre-existing signatures or documented </a:t>
            </a:r>
            <a:r>
              <a:rPr lang="en-US" sz="942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patterns.</a:t>
            </a:r>
            <a:endParaRPr lang="en-US" sz="942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2938" y="428625"/>
            <a:ext cx="785812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02A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Introducing Behavioral EDR for ICS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642938" y="1200150"/>
            <a:ext cx="7858125" cy="7800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642938" y="1200150"/>
            <a:ext cx="7858125" cy="28575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8700" y="1461595"/>
            <a:ext cx="228600" cy="22860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650206" y="1343025"/>
            <a:ext cx="663654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02A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Behavioral Analysis</a:t>
            </a:r>
            <a:endParaRPr lang="en-US" sz="1193" dirty="0"/>
          </a:p>
        </p:txBody>
      </p:sp>
      <p:sp>
        <p:nvSpPr>
          <p:cNvPr id="8" name="Text 4"/>
          <p:cNvSpPr/>
          <p:nvPr/>
        </p:nvSpPr>
        <p:spPr>
          <a:xfrm>
            <a:off x="1650206" y="1628775"/>
            <a:ext cx="6636544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621" dirty="0">
                <a:solidFill>
                  <a:srgbClr val="00A8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r>
              <a:rPr lang="en-US" sz="942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Learns the unique statistical fingerprint of normal plant operations to establish a trustworthy reference.</a:t>
            </a:r>
            <a:endParaRPr lang="en-US" sz="621" dirty="0"/>
          </a:p>
        </p:txBody>
      </p:sp>
      <p:sp>
        <p:nvSpPr>
          <p:cNvPr id="9" name="Shape 5"/>
          <p:cNvSpPr/>
          <p:nvPr/>
        </p:nvSpPr>
        <p:spPr>
          <a:xfrm>
            <a:off x="642938" y="2094542"/>
            <a:ext cx="7858125" cy="78009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6"/>
          <p:cNvSpPr/>
          <p:nvPr/>
        </p:nvSpPr>
        <p:spPr>
          <a:xfrm>
            <a:off x="642938" y="2094542"/>
            <a:ext cx="7858125" cy="28575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8700" y="2355986"/>
            <a:ext cx="228600" cy="22860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650206" y="2237417"/>
            <a:ext cx="663654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02A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Endpoint Detection</a:t>
            </a:r>
            <a:endParaRPr lang="en-US" sz="1193" dirty="0"/>
          </a:p>
        </p:txBody>
      </p:sp>
      <p:sp>
        <p:nvSpPr>
          <p:cNvPr id="13" name="Text 8"/>
          <p:cNvSpPr/>
          <p:nvPr/>
        </p:nvSpPr>
        <p:spPr>
          <a:xfrm>
            <a:off x="1650206" y="2523167"/>
            <a:ext cx="6636544" cy="1800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621" dirty="0">
                <a:solidFill>
                  <a:srgbClr val="00A8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r>
              <a:rPr lang="en-US" sz="942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Monitors process-level variables directly at the sensor/actuator interface for maximum visibility.</a:t>
            </a:r>
            <a:endParaRPr lang="en-US" sz="621" dirty="0"/>
          </a:p>
        </p:txBody>
      </p:sp>
      <p:sp>
        <p:nvSpPr>
          <p:cNvPr id="14" name="Shape 9"/>
          <p:cNvSpPr/>
          <p:nvPr/>
        </p:nvSpPr>
        <p:spPr>
          <a:xfrm>
            <a:off x="642938" y="2988934"/>
            <a:ext cx="7858125" cy="96010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0"/>
          <p:cNvSpPr/>
          <p:nvPr/>
        </p:nvSpPr>
        <p:spPr>
          <a:xfrm>
            <a:off x="642938" y="2988934"/>
            <a:ext cx="7858125" cy="28575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28700" y="3340401"/>
            <a:ext cx="228600" cy="22860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1650206" y="3131809"/>
            <a:ext cx="663654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02A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Multi-Layered Pipeline</a:t>
            </a:r>
            <a:endParaRPr lang="en-US" sz="1193" dirty="0"/>
          </a:p>
        </p:txBody>
      </p:sp>
      <p:sp>
        <p:nvSpPr>
          <p:cNvPr id="18" name="Text 12"/>
          <p:cNvSpPr/>
          <p:nvPr/>
        </p:nvSpPr>
        <p:spPr>
          <a:xfrm>
            <a:off x="1650206" y="3417559"/>
            <a:ext cx="6636544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621" dirty="0">
                <a:solidFill>
                  <a:srgbClr val="00A8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r>
              <a:rPr lang="en-US" sz="942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Integrates 12 specialized mathematical formulas—from **EWMA** to **Shannon Entropy**—for </a:t>
            </a:r>
            <a:r>
              <a:rPr lang="en-US" sz="942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comprehensive coverage.</a:t>
            </a:r>
            <a:endParaRPr lang="en-US" sz="621" dirty="0"/>
          </a:p>
        </p:txBody>
      </p:sp>
      <p:sp>
        <p:nvSpPr>
          <p:cNvPr id="19" name="Shape 13"/>
          <p:cNvSpPr/>
          <p:nvPr/>
        </p:nvSpPr>
        <p:spPr>
          <a:xfrm>
            <a:off x="642938" y="4063343"/>
            <a:ext cx="7858125" cy="96010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4"/>
          <p:cNvSpPr/>
          <p:nvPr/>
        </p:nvSpPr>
        <p:spPr>
          <a:xfrm>
            <a:off x="642938" y="4063343"/>
            <a:ext cx="7858125" cy="28575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21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8700" y="4414810"/>
            <a:ext cx="228600" cy="228600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650206" y="4206218"/>
            <a:ext cx="663654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02A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Frozen Baseline</a:t>
            </a:r>
            <a:endParaRPr lang="en-US" sz="1193" dirty="0"/>
          </a:p>
        </p:txBody>
      </p:sp>
      <p:sp>
        <p:nvSpPr>
          <p:cNvPr id="23" name="Text 16"/>
          <p:cNvSpPr/>
          <p:nvPr/>
        </p:nvSpPr>
        <p:spPr>
          <a:xfrm>
            <a:off x="1650206" y="4491968"/>
            <a:ext cx="6636544" cy="36003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621" dirty="0">
                <a:solidFill>
                  <a:srgbClr val="00A8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r>
              <a:rPr lang="en-US" sz="942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key innovation that locks model parameters after warmup to prevent adversarial drift and model </a:t>
            </a:r>
            <a:r>
              <a:rPr lang="en-US" sz="942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poisoning.</a:t>
            </a:r>
            <a:endParaRPr lang="en-US" sz="621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2938" y="428625"/>
            <a:ext cx="785812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02A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12-Formula Detection Engine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642938" y="1114425"/>
            <a:ext cx="3879056" cy="82331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642938" y="1114425"/>
            <a:ext cx="3879056" cy="28575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28663" y="1231404"/>
            <a:ext cx="112514" cy="1285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26902" y="1200150"/>
            <a:ext cx="1632347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02A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1. State Vector Extraction</a:t>
            </a:r>
            <a:endParaRPr lang="en-US" sz="987" dirty="0"/>
          </a:p>
        </p:txBody>
      </p:sp>
      <p:sp>
        <p:nvSpPr>
          <p:cNvPr id="8" name="Text 4"/>
          <p:cNvSpPr/>
          <p:nvPr/>
        </p:nvSpPr>
        <p:spPr>
          <a:xfrm>
            <a:off x="728663" y="1535237"/>
            <a:ext cx="43169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00A8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516" dirty="0"/>
          </a:p>
        </p:txBody>
      </p:sp>
      <p:sp>
        <p:nvSpPr>
          <p:cNvPr id="9" name="Text 5"/>
          <p:cNvSpPr/>
          <p:nvPr/>
        </p:nvSpPr>
        <p:spPr>
          <a:xfrm>
            <a:off x="828982" y="1505545"/>
            <a:ext cx="2593181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Consolidates 14 sensors into a real-time snapshot.</a:t>
            </a:r>
            <a:endParaRPr lang="en-US" sz="780" dirty="0"/>
          </a:p>
        </p:txBody>
      </p:sp>
      <p:sp>
        <p:nvSpPr>
          <p:cNvPr id="10" name="Text 6"/>
          <p:cNvSpPr/>
          <p:nvPr/>
        </p:nvSpPr>
        <p:spPr>
          <a:xfrm>
            <a:off x="728663" y="1678781"/>
            <a:ext cx="370760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34" b="1" i="1" dirty="0">
                <a:solidFill>
                  <a:srgbClr val="02809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X_t = [x₁(t), x₂(t), ..., x₁₄(t)]ᵀ</a:t>
            </a:r>
            <a:endParaRPr lang="en-US" sz="734" dirty="0"/>
          </a:p>
        </p:txBody>
      </p:sp>
      <p:sp>
        <p:nvSpPr>
          <p:cNvPr id="11" name="Shape 7"/>
          <p:cNvSpPr/>
          <p:nvPr/>
        </p:nvSpPr>
        <p:spPr>
          <a:xfrm>
            <a:off x="4622006" y="1114425"/>
            <a:ext cx="3879056" cy="82331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2" name="Shape 8"/>
          <p:cNvSpPr/>
          <p:nvPr/>
        </p:nvSpPr>
        <p:spPr>
          <a:xfrm>
            <a:off x="4622006" y="1114425"/>
            <a:ext cx="3879056" cy="28575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707731" y="1231404"/>
            <a:ext cx="128588" cy="1285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4922044" y="1200150"/>
            <a:ext cx="1187648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02A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2. Sliding Window</a:t>
            </a:r>
            <a:endParaRPr lang="en-US" sz="987" dirty="0"/>
          </a:p>
        </p:txBody>
      </p:sp>
      <p:sp>
        <p:nvSpPr>
          <p:cNvPr id="15" name="Text 10"/>
          <p:cNvSpPr/>
          <p:nvPr/>
        </p:nvSpPr>
        <p:spPr>
          <a:xfrm>
            <a:off x="4707731" y="1535237"/>
            <a:ext cx="43169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00A8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516" dirty="0"/>
          </a:p>
        </p:txBody>
      </p:sp>
      <p:sp>
        <p:nvSpPr>
          <p:cNvPr id="16" name="Text 11"/>
          <p:cNvSpPr/>
          <p:nvPr/>
        </p:nvSpPr>
        <p:spPr>
          <a:xfrm>
            <a:off x="4808051" y="1505545"/>
            <a:ext cx="245745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Maintains the 50 most recent states for context.</a:t>
            </a:r>
            <a:endParaRPr lang="en-US" sz="780" dirty="0"/>
          </a:p>
        </p:txBody>
      </p:sp>
      <p:sp>
        <p:nvSpPr>
          <p:cNvPr id="17" name="Text 12"/>
          <p:cNvSpPr/>
          <p:nvPr/>
        </p:nvSpPr>
        <p:spPr>
          <a:xfrm>
            <a:off x="4707731" y="1678781"/>
            <a:ext cx="370760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34" b="1" i="1" dirty="0">
                <a:solidFill>
                  <a:srgbClr val="02809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W_t = {X_{t-n+1}, ..., X_t}</a:t>
            </a:r>
            <a:endParaRPr lang="en-US" sz="734" dirty="0"/>
          </a:p>
        </p:txBody>
      </p:sp>
      <p:sp>
        <p:nvSpPr>
          <p:cNvPr id="18" name="Shape 13"/>
          <p:cNvSpPr/>
          <p:nvPr/>
        </p:nvSpPr>
        <p:spPr>
          <a:xfrm>
            <a:off x="642938" y="2009180"/>
            <a:ext cx="3879056" cy="82331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4"/>
          <p:cNvSpPr/>
          <p:nvPr/>
        </p:nvSpPr>
        <p:spPr>
          <a:xfrm>
            <a:off x="642938" y="2009180"/>
            <a:ext cx="3879056" cy="28575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20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8663" y="2126159"/>
            <a:ext cx="128588" cy="128588"/>
          </a:xfrm>
          <a:prstGeom prst="rect">
            <a:avLst/>
          </a:prstGeom>
        </p:spPr>
      </p:pic>
      <p:sp>
        <p:nvSpPr>
          <p:cNvPr id="21" name="Text 15"/>
          <p:cNvSpPr/>
          <p:nvPr/>
        </p:nvSpPr>
        <p:spPr>
          <a:xfrm>
            <a:off x="942975" y="2094905"/>
            <a:ext cx="1753791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02A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3. EWMA Mean &amp; Variance</a:t>
            </a:r>
            <a:endParaRPr lang="en-US" sz="987" dirty="0"/>
          </a:p>
        </p:txBody>
      </p:sp>
      <p:sp>
        <p:nvSpPr>
          <p:cNvPr id="22" name="Text 16"/>
          <p:cNvSpPr/>
          <p:nvPr/>
        </p:nvSpPr>
        <p:spPr>
          <a:xfrm>
            <a:off x="728663" y="2429991"/>
            <a:ext cx="43169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00A8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516" dirty="0"/>
          </a:p>
        </p:txBody>
      </p:sp>
      <p:sp>
        <p:nvSpPr>
          <p:cNvPr id="23" name="Text 17"/>
          <p:cNvSpPr/>
          <p:nvPr/>
        </p:nvSpPr>
        <p:spPr>
          <a:xfrm>
            <a:off x="828982" y="2400300"/>
            <a:ext cx="2532459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Computes smoothed baselines resistant to noise.</a:t>
            </a:r>
            <a:endParaRPr lang="en-US" sz="780" dirty="0"/>
          </a:p>
        </p:txBody>
      </p:sp>
      <p:sp>
        <p:nvSpPr>
          <p:cNvPr id="24" name="Text 18"/>
          <p:cNvSpPr/>
          <p:nvPr/>
        </p:nvSpPr>
        <p:spPr>
          <a:xfrm>
            <a:off x="728663" y="2573536"/>
            <a:ext cx="370760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34" b="1" i="1" dirty="0">
                <a:solidFill>
                  <a:srgbClr val="02809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μ_t = α·X_t + (1-α)·μ_{t-1}</a:t>
            </a:r>
            <a:endParaRPr lang="en-US" sz="734" dirty="0"/>
          </a:p>
        </p:txBody>
      </p:sp>
      <p:sp>
        <p:nvSpPr>
          <p:cNvPr id="25" name="Shape 19"/>
          <p:cNvSpPr/>
          <p:nvPr/>
        </p:nvSpPr>
        <p:spPr>
          <a:xfrm>
            <a:off x="4622006" y="2009180"/>
            <a:ext cx="3879056" cy="82331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6" name="Shape 20"/>
          <p:cNvSpPr/>
          <p:nvPr/>
        </p:nvSpPr>
        <p:spPr>
          <a:xfrm>
            <a:off x="4622006" y="2009180"/>
            <a:ext cx="3879056" cy="28575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2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07731" y="2126159"/>
            <a:ext cx="128588" cy="128588"/>
          </a:xfrm>
          <a:prstGeom prst="rect">
            <a:avLst/>
          </a:prstGeom>
        </p:spPr>
      </p:pic>
      <p:sp>
        <p:nvSpPr>
          <p:cNvPr id="28" name="Text 21"/>
          <p:cNvSpPr/>
          <p:nvPr/>
        </p:nvSpPr>
        <p:spPr>
          <a:xfrm>
            <a:off x="4922044" y="2094905"/>
            <a:ext cx="1603772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02A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4. Mahalanobis Distance</a:t>
            </a:r>
            <a:endParaRPr lang="en-US" sz="987" dirty="0"/>
          </a:p>
        </p:txBody>
      </p:sp>
      <p:sp>
        <p:nvSpPr>
          <p:cNvPr id="29" name="Text 22"/>
          <p:cNvSpPr/>
          <p:nvPr/>
        </p:nvSpPr>
        <p:spPr>
          <a:xfrm>
            <a:off x="4707731" y="2429991"/>
            <a:ext cx="43169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00A8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516" dirty="0"/>
          </a:p>
        </p:txBody>
      </p:sp>
      <p:sp>
        <p:nvSpPr>
          <p:cNvPr id="30" name="Text 23"/>
          <p:cNvSpPr/>
          <p:nvPr/>
        </p:nvSpPr>
        <p:spPr>
          <a:xfrm>
            <a:off x="4808051" y="2400300"/>
            <a:ext cx="255924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Measures multivariate deviation with correlations.</a:t>
            </a:r>
            <a:endParaRPr lang="en-US" sz="780" dirty="0"/>
          </a:p>
        </p:txBody>
      </p:sp>
      <p:sp>
        <p:nvSpPr>
          <p:cNvPr id="31" name="Text 24"/>
          <p:cNvSpPr/>
          <p:nvPr/>
        </p:nvSpPr>
        <p:spPr>
          <a:xfrm>
            <a:off x="4707731" y="2573536"/>
            <a:ext cx="370760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34" b="1" i="1" dirty="0">
                <a:solidFill>
                  <a:srgbClr val="02809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D_M(t) = √((X_t-μ)ᵀ·Σ⁻¹·(X_t-μ))</a:t>
            </a:r>
            <a:endParaRPr lang="en-US" sz="734" dirty="0"/>
          </a:p>
        </p:txBody>
      </p:sp>
      <p:sp>
        <p:nvSpPr>
          <p:cNvPr id="32" name="Shape 25"/>
          <p:cNvSpPr/>
          <p:nvPr/>
        </p:nvSpPr>
        <p:spPr>
          <a:xfrm>
            <a:off x="642938" y="2903934"/>
            <a:ext cx="3879056" cy="82331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3" name="Shape 26"/>
          <p:cNvSpPr/>
          <p:nvPr/>
        </p:nvSpPr>
        <p:spPr>
          <a:xfrm>
            <a:off x="642938" y="2903934"/>
            <a:ext cx="3879056" cy="28575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34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28663" y="3020913"/>
            <a:ext cx="96441" cy="128588"/>
          </a:xfrm>
          <a:prstGeom prst="rect">
            <a:avLst/>
          </a:prstGeom>
        </p:spPr>
      </p:pic>
      <p:sp>
        <p:nvSpPr>
          <p:cNvPr id="35" name="Text 27"/>
          <p:cNvSpPr/>
          <p:nvPr/>
        </p:nvSpPr>
        <p:spPr>
          <a:xfrm>
            <a:off x="910828" y="2989659"/>
            <a:ext cx="2078831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02A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5. Probability &amp; Reconstruction</a:t>
            </a:r>
            <a:endParaRPr lang="en-US" sz="987" dirty="0"/>
          </a:p>
        </p:txBody>
      </p:sp>
      <p:sp>
        <p:nvSpPr>
          <p:cNvPr id="36" name="Text 28"/>
          <p:cNvSpPr/>
          <p:nvPr/>
        </p:nvSpPr>
        <p:spPr>
          <a:xfrm>
            <a:off x="728663" y="3324746"/>
            <a:ext cx="43169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00A8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516" dirty="0"/>
          </a:p>
        </p:txBody>
      </p:sp>
      <p:sp>
        <p:nvSpPr>
          <p:cNvPr id="37" name="Text 29"/>
          <p:cNvSpPr/>
          <p:nvPr/>
        </p:nvSpPr>
        <p:spPr>
          <a:xfrm>
            <a:off x="828982" y="3295055"/>
            <a:ext cx="2577108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Maps distance to likelihood and raw error metrics.</a:t>
            </a:r>
            <a:endParaRPr lang="en-US" sz="780" dirty="0"/>
          </a:p>
        </p:txBody>
      </p:sp>
      <p:sp>
        <p:nvSpPr>
          <p:cNvPr id="38" name="Text 30"/>
          <p:cNvSpPr/>
          <p:nvPr/>
        </p:nvSpPr>
        <p:spPr>
          <a:xfrm>
            <a:off x="728663" y="3468291"/>
            <a:ext cx="370760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34" b="1" i="1" dirty="0">
                <a:solidFill>
                  <a:srgbClr val="02809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P(X_t) = exp(-0.5·(D_M/10)²)</a:t>
            </a:r>
            <a:endParaRPr lang="en-US" sz="734" dirty="0"/>
          </a:p>
        </p:txBody>
      </p:sp>
      <p:sp>
        <p:nvSpPr>
          <p:cNvPr id="39" name="Shape 31"/>
          <p:cNvSpPr/>
          <p:nvPr/>
        </p:nvSpPr>
        <p:spPr>
          <a:xfrm>
            <a:off x="4622006" y="2903934"/>
            <a:ext cx="3879056" cy="82331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0" name="Shape 32"/>
          <p:cNvSpPr/>
          <p:nvPr/>
        </p:nvSpPr>
        <p:spPr>
          <a:xfrm>
            <a:off x="4622006" y="2903934"/>
            <a:ext cx="3879056" cy="28575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41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707731" y="3020913"/>
            <a:ext cx="128588" cy="128588"/>
          </a:xfrm>
          <a:prstGeom prst="rect">
            <a:avLst/>
          </a:prstGeom>
        </p:spPr>
      </p:pic>
      <p:sp>
        <p:nvSpPr>
          <p:cNvPr id="42" name="Text 33"/>
          <p:cNvSpPr/>
          <p:nvPr/>
        </p:nvSpPr>
        <p:spPr>
          <a:xfrm>
            <a:off x="4922044" y="2989659"/>
            <a:ext cx="1351955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02A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6. Entropy &amp; Timing</a:t>
            </a:r>
            <a:endParaRPr lang="en-US" sz="987" dirty="0"/>
          </a:p>
        </p:txBody>
      </p:sp>
      <p:sp>
        <p:nvSpPr>
          <p:cNvPr id="43" name="Text 34"/>
          <p:cNvSpPr/>
          <p:nvPr/>
        </p:nvSpPr>
        <p:spPr>
          <a:xfrm>
            <a:off x="4707731" y="3324746"/>
            <a:ext cx="43169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00A8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516" dirty="0"/>
          </a:p>
        </p:txBody>
      </p:sp>
      <p:sp>
        <p:nvSpPr>
          <p:cNvPr id="44" name="Text 35"/>
          <p:cNvSpPr/>
          <p:nvPr/>
        </p:nvSpPr>
        <p:spPr>
          <a:xfrm>
            <a:off x="4808051" y="3295055"/>
            <a:ext cx="2600325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Detects disorder and communication irregularities.</a:t>
            </a:r>
            <a:endParaRPr lang="en-US" sz="780" dirty="0"/>
          </a:p>
        </p:txBody>
      </p:sp>
      <p:sp>
        <p:nvSpPr>
          <p:cNvPr id="45" name="Text 36"/>
          <p:cNvSpPr/>
          <p:nvPr/>
        </p:nvSpPr>
        <p:spPr>
          <a:xfrm>
            <a:off x="4707731" y="3468291"/>
            <a:ext cx="370760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34" b="1" i="1" dirty="0">
                <a:solidFill>
                  <a:srgbClr val="02809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 = -Σ P(sᵢ)·log(P(sᵢ))</a:t>
            </a:r>
            <a:endParaRPr lang="en-US" sz="734" dirty="0"/>
          </a:p>
        </p:txBody>
      </p:sp>
      <p:sp>
        <p:nvSpPr>
          <p:cNvPr id="46" name="Shape 37"/>
          <p:cNvSpPr/>
          <p:nvPr/>
        </p:nvSpPr>
        <p:spPr>
          <a:xfrm>
            <a:off x="642938" y="3798689"/>
            <a:ext cx="3879056" cy="82331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7" name="Shape 38"/>
          <p:cNvSpPr/>
          <p:nvPr/>
        </p:nvSpPr>
        <p:spPr>
          <a:xfrm>
            <a:off x="642938" y="3798689"/>
            <a:ext cx="3879056" cy="28575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48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728663" y="3915668"/>
            <a:ext cx="128588" cy="128588"/>
          </a:xfrm>
          <a:prstGeom prst="rect">
            <a:avLst/>
          </a:prstGeom>
        </p:spPr>
      </p:pic>
      <p:sp>
        <p:nvSpPr>
          <p:cNvPr id="49" name="Text 39"/>
          <p:cNvSpPr/>
          <p:nvPr/>
        </p:nvSpPr>
        <p:spPr>
          <a:xfrm>
            <a:off x="942975" y="3884414"/>
            <a:ext cx="1727002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02A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7. Risk &amp; Unknown Scores</a:t>
            </a:r>
            <a:endParaRPr lang="en-US" sz="987" dirty="0"/>
          </a:p>
        </p:txBody>
      </p:sp>
      <p:sp>
        <p:nvSpPr>
          <p:cNvPr id="50" name="Text 40"/>
          <p:cNvSpPr/>
          <p:nvPr/>
        </p:nvSpPr>
        <p:spPr>
          <a:xfrm>
            <a:off x="728663" y="4219501"/>
            <a:ext cx="43169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00A8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516" dirty="0"/>
          </a:p>
        </p:txBody>
      </p:sp>
      <p:sp>
        <p:nvSpPr>
          <p:cNvPr id="51" name="Text 41"/>
          <p:cNvSpPr/>
          <p:nvPr/>
        </p:nvSpPr>
        <p:spPr>
          <a:xfrm>
            <a:off x="828982" y="4189809"/>
            <a:ext cx="2448520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Aggregates signals to identify zero-day threats.</a:t>
            </a:r>
            <a:endParaRPr lang="en-US" sz="780" dirty="0"/>
          </a:p>
        </p:txBody>
      </p:sp>
      <p:sp>
        <p:nvSpPr>
          <p:cNvPr id="52" name="Text 42"/>
          <p:cNvSpPr/>
          <p:nvPr/>
        </p:nvSpPr>
        <p:spPr>
          <a:xfrm>
            <a:off x="728663" y="4363045"/>
            <a:ext cx="370760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34" b="1" i="1" dirty="0">
                <a:solidFill>
                  <a:srgbClr val="02809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U_t = w₁·(1-P) + w₂·E_t + w₃·T + w₄·H</a:t>
            </a:r>
            <a:endParaRPr lang="en-US" sz="734" dirty="0"/>
          </a:p>
        </p:txBody>
      </p:sp>
      <p:sp>
        <p:nvSpPr>
          <p:cNvPr id="53" name="Shape 43"/>
          <p:cNvSpPr/>
          <p:nvPr/>
        </p:nvSpPr>
        <p:spPr>
          <a:xfrm>
            <a:off x="4622006" y="3798689"/>
            <a:ext cx="3879056" cy="82331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4" name="Shape 44"/>
          <p:cNvSpPr/>
          <p:nvPr/>
        </p:nvSpPr>
        <p:spPr>
          <a:xfrm>
            <a:off x="4622006" y="3798689"/>
            <a:ext cx="3879056" cy="28575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55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707731" y="3915668"/>
            <a:ext cx="128588" cy="128588"/>
          </a:xfrm>
          <a:prstGeom prst="rect">
            <a:avLst/>
          </a:prstGeom>
        </p:spPr>
      </p:pic>
      <p:sp>
        <p:nvSpPr>
          <p:cNvPr id="56" name="Text 45"/>
          <p:cNvSpPr/>
          <p:nvPr/>
        </p:nvSpPr>
        <p:spPr>
          <a:xfrm>
            <a:off x="4922044" y="3884414"/>
            <a:ext cx="1357313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987" b="1" dirty="0">
                <a:solidFill>
                  <a:srgbClr val="102A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8. Persistence Check</a:t>
            </a:r>
            <a:endParaRPr lang="en-US" sz="987" dirty="0"/>
          </a:p>
        </p:txBody>
      </p:sp>
      <p:sp>
        <p:nvSpPr>
          <p:cNvPr id="57" name="Text 46"/>
          <p:cNvSpPr/>
          <p:nvPr/>
        </p:nvSpPr>
        <p:spPr>
          <a:xfrm>
            <a:off x="4707731" y="4219501"/>
            <a:ext cx="43169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ctr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00A8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516" dirty="0"/>
          </a:p>
        </p:txBody>
      </p:sp>
      <p:sp>
        <p:nvSpPr>
          <p:cNvPr id="58" name="Text 47"/>
          <p:cNvSpPr/>
          <p:nvPr/>
        </p:nvSpPr>
        <p:spPr>
          <a:xfrm>
            <a:off x="4808051" y="4189809"/>
            <a:ext cx="2503884" cy="12858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8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Filters transient noise for high-confidence alerts.</a:t>
            </a:r>
            <a:endParaRPr lang="en-US" sz="780" dirty="0"/>
          </a:p>
        </p:txBody>
      </p:sp>
      <p:sp>
        <p:nvSpPr>
          <p:cNvPr id="59" name="Text 48"/>
          <p:cNvSpPr/>
          <p:nvPr/>
        </p:nvSpPr>
        <p:spPr>
          <a:xfrm>
            <a:off x="4707731" y="4363045"/>
            <a:ext cx="3707606" cy="14466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734" b="1" i="1" dirty="0">
                <a:solidFill>
                  <a:srgbClr val="02809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Persistent = (Σ last_5_scores) &gt; γ</a:t>
            </a:r>
            <a:endParaRPr lang="en-US" sz="734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2938" y="428625"/>
            <a:ext cx="785812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02A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"Frozen Baseline" Strategy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642938" y="1271588"/>
            <a:ext cx="2524116" cy="205343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642938" y="1271588"/>
            <a:ext cx="2524116" cy="28575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504652"/>
            <a:ext cx="171450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35856" y="1485900"/>
            <a:ext cx="1094780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02A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Warmup Phase</a:t>
            </a:r>
            <a:endParaRPr lang="en-US" sz="1090" dirty="0"/>
          </a:p>
        </p:txBody>
      </p:sp>
      <p:sp>
        <p:nvSpPr>
          <p:cNvPr id="8" name="Text 4"/>
          <p:cNvSpPr/>
          <p:nvPr/>
        </p:nvSpPr>
        <p:spPr>
          <a:xfrm>
            <a:off x="857250" y="1916311"/>
            <a:ext cx="2095491" cy="1165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621" dirty="0">
                <a:solidFill>
                  <a:srgbClr val="00A8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r>
              <a:rPr lang="en-US" sz="888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system learns the plant's </a:t>
            </a:r>
            <a:r>
              <a:rPr lang="en-US" sz="888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 behavior during the first </a:t>
            </a:r>
            <a:r>
              <a:rPr lang="en-US" sz="834" b="1" dirty="0">
                <a:solidFill>
                  <a:srgbClr val="028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200 </a:t>
            </a:r>
            <a:r>
              <a:rPr lang="en-US" sz="834" b="1" dirty="0">
                <a:solidFill>
                  <a:srgbClr val="028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samples</a:t>
            </a:r>
            <a:r>
              <a:rPr lang="en-US" sz="888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</a:t>
            </a:r>
            <a:r>
              <a:rPr lang="en-US" sz="888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888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621" dirty="0">
                <a:solidFill>
                  <a:srgbClr val="00A8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r>
              <a:rPr lang="en-US" sz="888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Establishes initial statistical </a:t>
            </a:r>
            <a:r>
              <a:rPr lang="en-US" sz="888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parameters in a clean environment.</a:t>
            </a:r>
            <a:endParaRPr lang="en-US" sz="888" dirty="0"/>
          </a:p>
        </p:txBody>
      </p:sp>
      <p:sp>
        <p:nvSpPr>
          <p:cNvPr id="9" name="Shape 5"/>
          <p:cNvSpPr/>
          <p:nvPr/>
        </p:nvSpPr>
        <p:spPr>
          <a:xfrm>
            <a:off x="3309928" y="1271588"/>
            <a:ext cx="2524116" cy="205343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6"/>
          <p:cNvSpPr/>
          <p:nvPr/>
        </p:nvSpPr>
        <p:spPr>
          <a:xfrm>
            <a:off x="3309928" y="1271588"/>
            <a:ext cx="2524116" cy="28575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524241" y="1504652"/>
            <a:ext cx="150019" cy="1714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3781416" y="1485900"/>
            <a:ext cx="1151930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02A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Parameter Lock</a:t>
            </a:r>
            <a:endParaRPr lang="en-US" sz="1090" dirty="0"/>
          </a:p>
        </p:txBody>
      </p:sp>
      <p:sp>
        <p:nvSpPr>
          <p:cNvPr id="13" name="Text 8"/>
          <p:cNvSpPr/>
          <p:nvPr/>
        </p:nvSpPr>
        <p:spPr>
          <a:xfrm>
            <a:off x="3524241" y="1916311"/>
            <a:ext cx="2095491" cy="1165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621" dirty="0">
                <a:solidFill>
                  <a:srgbClr val="00A8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r>
              <a:rPr lang="en-US" sz="888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At sample 200, the mean (μ), </a:t>
            </a:r>
            <a:r>
              <a:rPr lang="en-US" sz="888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variance (σ²), and inverse </a:t>
            </a:r>
            <a:r>
              <a:rPr lang="en-US" sz="888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covariance (Σ⁻¹) are </a:t>
            </a:r>
            <a:r>
              <a:rPr lang="en-US" sz="834" b="1" dirty="0">
                <a:solidFill>
                  <a:srgbClr val="028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permanently </a:t>
            </a:r>
            <a:r>
              <a:rPr lang="en-US" sz="834" b="1" dirty="0">
                <a:solidFill>
                  <a:srgbClr val="028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frozen</a:t>
            </a:r>
            <a:r>
              <a:rPr lang="en-US" sz="888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</a:t>
            </a:r>
            <a:r>
              <a:rPr lang="en-US" sz="888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888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621" dirty="0">
                <a:solidFill>
                  <a:srgbClr val="00A8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r>
              <a:rPr lang="en-US" sz="888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Reference point is secured.</a:t>
            </a:r>
            <a:endParaRPr lang="en-US" sz="888" dirty="0"/>
          </a:p>
        </p:txBody>
      </p:sp>
      <p:sp>
        <p:nvSpPr>
          <p:cNvPr id="14" name="Shape 9"/>
          <p:cNvSpPr/>
          <p:nvPr/>
        </p:nvSpPr>
        <p:spPr>
          <a:xfrm>
            <a:off x="5976919" y="1271588"/>
            <a:ext cx="2524116" cy="205343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0"/>
          <p:cNvSpPr/>
          <p:nvPr/>
        </p:nvSpPr>
        <p:spPr>
          <a:xfrm>
            <a:off x="5976919" y="1271588"/>
            <a:ext cx="2524116" cy="28575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91231" y="1504652"/>
            <a:ext cx="171450" cy="1714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6469838" y="1485900"/>
            <a:ext cx="1182291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02A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Drift Prevention</a:t>
            </a:r>
            <a:endParaRPr lang="en-US" sz="1090" dirty="0"/>
          </a:p>
        </p:txBody>
      </p:sp>
      <p:sp>
        <p:nvSpPr>
          <p:cNvPr id="18" name="Text 12"/>
          <p:cNvSpPr/>
          <p:nvPr/>
        </p:nvSpPr>
        <p:spPr>
          <a:xfrm>
            <a:off x="6191231" y="1916311"/>
            <a:ext cx="2095491" cy="1165827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621" dirty="0">
                <a:solidFill>
                  <a:srgbClr val="00A8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r>
              <a:rPr lang="en-US" sz="888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Attacks cannot "poison" the </a:t>
            </a:r>
            <a:r>
              <a:rPr lang="en-US" sz="888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model by gradually shifting the </a:t>
            </a:r>
            <a:r>
              <a:rPr lang="en-US" sz="888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reference point over time. </a:t>
            </a:r>
            <a:r>
              <a:rPr lang="en-US" sz="888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
</a:t>
            </a:r>
            <a:r>
              <a:rPr lang="en-US" sz="888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</a:t>
            </a:r>
            <a:r>
              <a:rPr lang="en-US" sz="621" dirty="0">
                <a:solidFill>
                  <a:srgbClr val="00A8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r>
              <a:rPr lang="en-US" sz="888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Ensures </a:t>
            </a:r>
            <a:r>
              <a:rPr lang="en-US" sz="834" b="1" dirty="0">
                <a:solidFill>
                  <a:srgbClr val="028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long-term reliability</a:t>
            </a:r>
            <a:r>
              <a:rPr lang="en-US" sz="888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of </a:t>
            </a:r>
            <a:r>
              <a:rPr lang="en-US" sz="888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detection.</a:t>
            </a:r>
            <a:endParaRPr lang="en-US" sz="888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2938" y="428625"/>
            <a:ext cx="785812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02A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Core Metric: Mahalanobis Distance (D_M)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642938" y="1271588"/>
            <a:ext cx="3143250" cy="375582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642938" y="1271588"/>
            <a:ext cx="3143250" cy="28575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3"/>
          <p:cNvSpPr/>
          <p:nvPr/>
        </p:nvSpPr>
        <p:spPr>
          <a:xfrm>
            <a:off x="928688" y="2065437"/>
            <a:ext cx="257175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10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NORMAL BASELINE (AVG)</a:t>
            </a:r>
            <a:endParaRPr lang="en-US" sz="727" dirty="0"/>
          </a:p>
        </p:txBody>
      </p:sp>
      <p:sp>
        <p:nvSpPr>
          <p:cNvPr id="7" name="Text 4"/>
          <p:cNvSpPr/>
          <p:nvPr/>
        </p:nvSpPr>
        <p:spPr>
          <a:xfrm>
            <a:off x="928688" y="2244030"/>
            <a:ext cx="25717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256" dirty="0">
                <a:solidFill>
                  <a:srgbClr val="00A89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4.21</a:t>
            </a:r>
            <a:endParaRPr lang="en-US" sz="2256" dirty="0"/>
          </a:p>
        </p:txBody>
      </p:sp>
      <p:sp>
        <p:nvSpPr>
          <p:cNvPr id="8" name="Text 5"/>
          <p:cNvSpPr/>
          <p:nvPr/>
        </p:nvSpPr>
        <p:spPr>
          <a:xfrm>
            <a:off x="928688" y="2758380"/>
            <a:ext cx="257175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spc="1" kern="0" dirty="0">
                <a:solidFill>
                  <a:srgbClr val="10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ATTACK DEVIATION (AVG)</a:t>
            </a:r>
            <a:endParaRPr lang="en-US" sz="727" dirty="0"/>
          </a:p>
        </p:txBody>
      </p:sp>
      <p:sp>
        <p:nvSpPr>
          <p:cNvPr id="9" name="Text 6"/>
          <p:cNvSpPr/>
          <p:nvPr/>
        </p:nvSpPr>
        <p:spPr>
          <a:xfrm>
            <a:off x="928688" y="2936974"/>
            <a:ext cx="2571750" cy="300038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400"/>
              </a:lnSpc>
              <a:buNone/>
            </a:pPr>
            <a:r>
              <a:rPr lang="en-US" sz="2256" dirty="0">
                <a:solidFill>
                  <a:srgbClr val="00A89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177.41</a:t>
            </a:r>
            <a:endParaRPr lang="en-US" sz="2256" dirty="0"/>
          </a:p>
        </p:txBody>
      </p:sp>
      <p:sp>
        <p:nvSpPr>
          <p:cNvPr id="10" name="Shape 7"/>
          <p:cNvSpPr/>
          <p:nvPr/>
        </p:nvSpPr>
        <p:spPr>
          <a:xfrm>
            <a:off x="928688" y="3522762"/>
            <a:ext cx="2571750" cy="710803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1" name="Shape 8"/>
          <p:cNvSpPr/>
          <p:nvPr/>
        </p:nvSpPr>
        <p:spPr>
          <a:xfrm>
            <a:off x="928688" y="3522762"/>
            <a:ext cx="28575" cy="710803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2" name="Text 9"/>
          <p:cNvSpPr/>
          <p:nvPr/>
        </p:nvSpPr>
        <p:spPr>
          <a:xfrm>
            <a:off x="1071563" y="3665637"/>
            <a:ext cx="2286000" cy="3036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200"/>
              </a:lnSpc>
              <a:buNone/>
            </a:pPr>
            <a:r>
              <a:rPr lang="en-US" sz="1704" dirty="0">
                <a:solidFill>
                  <a:srgbClr val="102A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42× Separation</a:t>
            </a:r>
            <a:endParaRPr lang="en-US" sz="1704" dirty="0"/>
          </a:p>
        </p:txBody>
      </p:sp>
      <p:sp>
        <p:nvSpPr>
          <p:cNvPr id="13" name="Text 10"/>
          <p:cNvSpPr/>
          <p:nvPr/>
        </p:nvSpPr>
        <p:spPr>
          <a:xfrm>
            <a:off x="1071563" y="3969246"/>
            <a:ext cx="2286000" cy="121444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900"/>
              </a:lnSpc>
              <a:buNone/>
            </a:pPr>
            <a:r>
              <a:rPr lang="en-US" sz="727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Ratio between normal and attack data points</a:t>
            </a:r>
            <a:endParaRPr lang="en-US" sz="727" dirty="0"/>
          </a:p>
        </p:txBody>
      </p:sp>
      <p:sp>
        <p:nvSpPr>
          <p:cNvPr id="14" name="Shape 11"/>
          <p:cNvSpPr/>
          <p:nvPr/>
        </p:nvSpPr>
        <p:spPr>
          <a:xfrm>
            <a:off x="4179094" y="1271588"/>
            <a:ext cx="4321969" cy="110906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2"/>
          <p:cNvSpPr/>
          <p:nvPr/>
        </p:nvSpPr>
        <p:spPr>
          <a:xfrm>
            <a:off x="4179094" y="1271588"/>
            <a:ext cx="4321969" cy="28575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1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688" y="1483221"/>
            <a:ext cx="125016" cy="142875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4589859" y="1450181"/>
            <a:ext cx="1977033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02A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Beyond Euclidean Distance</a:t>
            </a:r>
            <a:endParaRPr lang="en-US" sz="1090" dirty="0"/>
          </a:p>
        </p:txBody>
      </p:sp>
      <p:sp>
        <p:nvSpPr>
          <p:cNvPr id="18" name="Text 14"/>
          <p:cNvSpPr/>
          <p:nvPr/>
        </p:nvSpPr>
        <p:spPr>
          <a:xfrm>
            <a:off x="4357688" y="1809155"/>
            <a:ext cx="3964781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621" dirty="0">
                <a:solidFill>
                  <a:srgbClr val="00A8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r>
              <a:rPr lang="en-US" sz="888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Accounts for the covariance structure between sensors, detecting </a:t>
            </a:r>
            <a:r>
              <a:rPr lang="en-US" sz="888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coordinated anomalies that single-sensor monitoring misses.</a:t>
            </a:r>
            <a:endParaRPr lang="en-US" sz="888" dirty="0"/>
          </a:p>
        </p:txBody>
      </p:sp>
      <p:sp>
        <p:nvSpPr>
          <p:cNvPr id="19" name="Shape 15"/>
          <p:cNvSpPr/>
          <p:nvPr/>
        </p:nvSpPr>
        <p:spPr>
          <a:xfrm>
            <a:off x="4179094" y="2494955"/>
            <a:ext cx="4321969" cy="110906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0" name="Shape 16"/>
          <p:cNvSpPr/>
          <p:nvPr/>
        </p:nvSpPr>
        <p:spPr>
          <a:xfrm>
            <a:off x="4179094" y="2494955"/>
            <a:ext cx="4321969" cy="28575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2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57688" y="2706588"/>
            <a:ext cx="142875" cy="142875"/>
          </a:xfrm>
          <a:prstGeom prst="rect">
            <a:avLst/>
          </a:prstGeom>
        </p:spPr>
      </p:pic>
      <p:sp>
        <p:nvSpPr>
          <p:cNvPr id="22" name="Text 17"/>
          <p:cNvSpPr/>
          <p:nvPr/>
        </p:nvSpPr>
        <p:spPr>
          <a:xfrm>
            <a:off x="4607719" y="2673548"/>
            <a:ext cx="2021681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02A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Optimal Threshold Strategy</a:t>
            </a:r>
            <a:endParaRPr lang="en-US" sz="1090" dirty="0"/>
          </a:p>
        </p:txBody>
      </p:sp>
      <p:sp>
        <p:nvSpPr>
          <p:cNvPr id="23" name="Text 18"/>
          <p:cNvSpPr/>
          <p:nvPr/>
        </p:nvSpPr>
        <p:spPr>
          <a:xfrm>
            <a:off x="4357688" y="3032522"/>
            <a:ext cx="3964781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621" dirty="0">
                <a:solidFill>
                  <a:srgbClr val="00A8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r>
              <a:rPr lang="en-US" sz="888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threshold of **D_M &gt; 5** provides the optimal balance </a:t>
            </a:r>
            <a:r>
              <a:rPr lang="en-US" sz="888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between high recall and operational continuity (97.6% Precision).</a:t>
            </a:r>
            <a:endParaRPr lang="en-US" sz="888" dirty="0"/>
          </a:p>
        </p:txBody>
      </p:sp>
      <p:sp>
        <p:nvSpPr>
          <p:cNvPr id="24" name="Shape 19"/>
          <p:cNvSpPr/>
          <p:nvPr/>
        </p:nvSpPr>
        <p:spPr>
          <a:xfrm>
            <a:off x="4179094" y="3718322"/>
            <a:ext cx="4321969" cy="1109067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5" name="Shape 20"/>
          <p:cNvSpPr/>
          <p:nvPr/>
        </p:nvSpPr>
        <p:spPr>
          <a:xfrm>
            <a:off x="4179094" y="3718322"/>
            <a:ext cx="4321969" cy="28575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2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357688" y="3929955"/>
            <a:ext cx="142875" cy="142875"/>
          </a:xfrm>
          <a:prstGeom prst="rect">
            <a:avLst/>
          </a:prstGeom>
        </p:spPr>
      </p:pic>
      <p:sp>
        <p:nvSpPr>
          <p:cNvPr id="27" name="Text 21"/>
          <p:cNvSpPr/>
          <p:nvPr/>
        </p:nvSpPr>
        <p:spPr>
          <a:xfrm>
            <a:off x="4607719" y="3896916"/>
            <a:ext cx="1241227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02A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Clear Distinction</a:t>
            </a:r>
            <a:endParaRPr lang="en-US" sz="1090" dirty="0"/>
          </a:p>
        </p:txBody>
      </p:sp>
      <p:sp>
        <p:nvSpPr>
          <p:cNvPr id="28" name="Text 22"/>
          <p:cNvSpPr/>
          <p:nvPr/>
        </p:nvSpPr>
        <p:spPr>
          <a:xfrm>
            <a:off x="4357688" y="4255889"/>
            <a:ext cx="3964781" cy="36433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621" dirty="0">
                <a:solidFill>
                  <a:srgbClr val="00A8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r>
              <a:rPr lang="en-US" sz="888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The massive statistical gap ensures that genuine cyber attacks are </a:t>
            </a:r>
            <a:r>
              <a:rPr lang="en-US" sz="888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clearly distinguishable from normal operational noise.</a:t>
            </a:r>
            <a:endParaRPr lang="en-US" sz="888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2938" y="428625"/>
            <a:ext cx="480953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02A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Detecting the Unknown: The U</a:t>
            </a:r>
            <a:endParaRPr lang="en-US" sz="2436" dirty="0"/>
          </a:p>
        </p:txBody>
      </p:sp>
      <p:sp>
        <p:nvSpPr>
          <p:cNvPr id="4" name="Text 1"/>
          <p:cNvSpPr/>
          <p:nvPr/>
        </p:nvSpPr>
        <p:spPr>
          <a:xfrm>
            <a:off x="5452467" y="561482"/>
            <a:ext cx="100013" cy="3804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016" b="1" baseline="-40000" dirty="0">
                <a:solidFill>
                  <a:srgbClr val="102A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</a:t>
            </a:r>
            <a:endParaRPr lang="en-US" sz="2016" dirty="0"/>
          </a:p>
        </p:txBody>
      </p:sp>
      <p:sp>
        <p:nvSpPr>
          <p:cNvPr id="5" name="Text 2"/>
          <p:cNvSpPr/>
          <p:nvPr/>
        </p:nvSpPr>
        <p:spPr>
          <a:xfrm>
            <a:off x="5552480" y="428625"/>
            <a:ext cx="971550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02A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Score</a:t>
            </a:r>
            <a:endParaRPr lang="en-US" sz="2436" dirty="0"/>
          </a:p>
        </p:txBody>
      </p:sp>
      <p:sp>
        <p:nvSpPr>
          <p:cNvPr id="6" name="Shape 3"/>
          <p:cNvSpPr/>
          <p:nvPr/>
        </p:nvSpPr>
        <p:spPr>
          <a:xfrm>
            <a:off x="642938" y="1327649"/>
            <a:ext cx="3143250" cy="3709002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7" name="Shape 4"/>
          <p:cNvSpPr/>
          <p:nvPr/>
        </p:nvSpPr>
        <p:spPr>
          <a:xfrm>
            <a:off x="642938" y="1327649"/>
            <a:ext cx="3143250" cy="28575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8" name="Text 5"/>
          <p:cNvSpPr/>
          <p:nvPr/>
        </p:nvSpPr>
        <p:spPr>
          <a:xfrm>
            <a:off x="928688" y="2273136"/>
            <a:ext cx="257175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02A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Unknown Behavior Score</a:t>
            </a:r>
            <a:endParaRPr lang="en-US" sz="1193" dirty="0"/>
          </a:p>
        </p:txBody>
      </p:sp>
      <p:sp>
        <p:nvSpPr>
          <p:cNvPr id="9" name="Shape 6"/>
          <p:cNvSpPr/>
          <p:nvPr/>
        </p:nvSpPr>
        <p:spPr>
          <a:xfrm>
            <a:off x="928688" y="2644611"/>
            <a:ext cx="2571750" cy="883648"/>
          </a:xfrm>
          <a:prstGeom prst="rect">
            <a:avLst/>
          </a:prstGeom>
          <a:solidFill>
            <a:srgbClr val="F0F4F8"/>
          </a:solidFill>
          <a:ln/>
        </p:spPr>
      </p:sp>
      <p:sp>
        <p:nvSpPr>
          <p:cNvPr id="10" name="Shape 7"/>
          <p:cNvSpPr/>
          <p:nvPr/>
        </p:nvSpPr>
        <p:spPr>
          <a:xfrm>
            <a:off x="928688" y="2644611"/>
            <a:ext cx="28575" cy="883648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1" name="Text 8"/>
          <p:cNvSpPr/>
          <p:nvPr/>
        </p:nvSpPr>
        <p:spPr>
          <a:xfrm>
            <a:off x="1292126" y="2787486"/>
            <a:ext cx="137517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86" dirty="0">
                <a:solidFill>
                  <a:srgbClr val="02809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U</a:t>
            </a:r>
            <a:endParaRPr lang="en-US" sz="1486" dirty="0"/>
          </a:p>
        </p:txBody>
      </p:sp>
      <p:sp>
        <p:nvSpPr>
          <p:cNvPr id="12" name="Text 9"/>
          <p:cNvSpPr/>
          <p:nvPr/>
        </p:nvSpPr>
        <p:spPr>
          <a:xfrm>
            <a:off x="1429643" y="2864979"/>
            <a:ext cx="5893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32" baseline="-40000" dirty="0">
                <a:solidFill>
                  <a:srgbClr val="02809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</a:t>
            </a:r>
            <a:endParaRPr lang="en-US" sz="1232" dirty="0"/>
          </a:p>
        </p:txBody>
      </p:sp>
      <p:sp>
        <p:nvSpPr>
          <p:cNvPr id="13" name="Text 10"/>
          <p:cNvSpPr/>
          <p:nvPr/>
        </p:nvSpPr>
        <p:spPr>
          <a:xfrm>
            <a:off x="1488579" y="2787486"/>
            <a:ext cx="371475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86" dirty="0">
                <a:solidFill>
                  <a:srgbClr val="02809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= w</a:t>
            </a:r>
            <a:endParaRPr lang="en-US" sz="1486" dirty="0"/>
          </a:p>
        </p:txBody>
      </p:sp>
      <p:sp>
        <p:nvSpPr>
          <p:cNvPr id="14" name="Text 11"/>
          <p:cNvSpPr/>
          <p:nvPr/>
        </p:nvSpPr>
        <p:spPr>
          <a:xfrm>
            <a:off x="1860054" y="2864979"/>
            <a:ext cx="64294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32" baseline="-40000" dirty="0">
                <a:solidFill>
                  <a:srgbClr val="02809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</a:t>
            </a:r>
            <a:endParaRPr lang="en-US" sz="1232" dirty="0"/>
          </a:p>
        </p:txBody>
      </p:sp>
      <p:sp>
        <p:nvSpPr>
          <p:cNvPr id="15" name="Text 12"/>
          <p:cNvSpPr/>
          <p:nvPr/>
        </p:nvSpPr>
        <p:spPr>
          <a:xfrm>
            <a:off x="1924348" y="2787486"/>
            <a:ext cx="778669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86" dirty="0">
                <a:solidFill>
                  <a:srgbClr val="02809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(1-P) + w</a:t>
            </a:r>
            <a:endParaRPr lang="en-US" sz="1486" dirty="0"/>
          </a:p>
        </p:txBody>
      </p:sp>
      <p:sp>
        <p:nvSpPr>
          <p:cNvPr id="16" name="Text 13"/>
          <p:cNvSpPr/>
          <p:nvPr/>
        </p:nvSpPr>
        <p:spPr>
          <a:xfrm>
            <a:off x="2703016" y="2864979"/>
            <a:ext cx="8751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32" baseline="-40000" dirty="0">
                <a:solidFill>
                  <a:srgbClr val="02809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2</a:t>
            </a:r>
            <a:endParaRPr lang="en-US" sz="1232" dirty="0"/>
          </a:p>
        </p:txBody>
      </p:sp>
      <p:sp>
        <p:nvSpPr>
          <p:cNvPr id="17" name="Text 14"/>
          <p:cNvSpPr/>
          <p:nvPr/>
        </p:nvSpPr>
        <p:spPr>
          <a:xfrm>
            <a:off x="2790527" y="2787486"/>
            <a:ext cx="126802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86" dirty="0">
                <a:solidFill>
                  <a:srgbClr val="02809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</a:t>
            </a:r>
            <a:endParaRPr lang="en-US" sz="1486" dirty="0"/>
          </a:p>
        </p:txBody>
      </p:sp>
      <p:sp>
        <p:nvSpPr>
          <p:cNvPr id="18" name="Text 15"/>
          <p:cNvSpPr/>
          <p:nvPr/>
        </p:nvSpPr>
        <p:spPr>
          <a:xfrm>
            <a:off x="2917329" y="2864979"/>
            <a:ext cx="58936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32" baseline="-40000" dirty="0">
                <a:solidFill>
                  <a:srgbClr val="02809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</a:t>
            </a:r>
            <a:endParaRPr lang="en-US" sz="1232" dirty="0"/>
          </a:p>
        </p:txBody>
      </p:sp>
      <p:sp>
        <p:nvSpPr>
          <p:cNvPr id="19" name="Text 16"/>
          <p:cNvSpPr/>
          <p:nvPr/>
        </p:nvSpPr>
        <p:spPr>
          <a:xfrm>
            <a:off x="2976265" y="2787486"/>
            <a:ext cx="160734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86" dirty="0">
                <a:solidFill>
                  <a:srgbClr val="02809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+</a:t>
            </a:r>
            <a:endParaRPr lang="en-US" sz="1486" dirty="0"/>
          </a:p>
        </p:txBody>
      </p:sp>
      <p:sp>
        <p:nvSpPr>
          <p:cNvPr id="20" name="Text 17"/>
          <p:cNvSpPr/>
          <p:nvPr/>
        </p:nvSpPr>
        <p:spPr>
          <a:xfrm>
            <a:off x="1685925" y="3086435"/>
            <a:ext cx="157163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86" dirty="0">
                <a:solidFill>
                  <a:srgbClr val="02809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w</a:t>
            </a:r>
            <a:endParaRPr lang="en-US" sz="1486" dirty="0"/>
          </a:p>
        </p:txBody>
      </p:sp>
      <p:sp>
        <p:nvSpPr>
          <p:cNvPr id="21" name="Text 18"/>
          <p:cNvSpPr/>
          <p:nvPr/>
        </p:nvSpPr>
        <p:spPr>
          <a:xfrm>
            <a:off x="1843088" y="3163928"/>
            <a:ext cx="82153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32" baseline="-40000" dirty="0">
                <a:solidFill>
                  <a:srgbClr val="02809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3</a:t>
            </a:r>
            <a:endParaRPr lang="en-US" sz="1232" dirty="0"/>
          </a:p>
        </p:txBody>
      </p:sp>
      <p:sp>
        <p:nvSpPr>
          <p:cNvPr id="22" name="Text 19"/>
          <p:cNvSpPr/>
          <p:nvPr/>
        </p:nvSpPr>
        <p:spPr>
          <a:xfrm>
            <a:off x="1925241" y="3086435"/>
            <a:ext cx="133945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86" dirty="0">
                <a:solidFill>
                  <a:srgbClr val="02809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</a:t>
            </a:r>
            <a:endParaRPr lang="en-US" sz="1486" dirty="0"/>
          </a:p>
        </p:txBody>
      </p:sp>
      <p:sp>
        <p:nvSpPr>
          <p:cNvPr id="23" name="Text 20"/>
          <p:cNvSpPr/>
          <p:nvPr/>
        </p:nvSpPr>
        <p:spPr>
          <a:xfrm>
            <a:off x="2059186" y="3163928"/>
            <a:ext cx="76795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32" baseline="-40000" dirty="0">
                <a:solidFill>
                  <a:srgbClr val="02809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</a:t>
            </a:r>
            <a:endParaRPr lang="en-US" sz="1232" dirty="0"/>
          </a:p>
        </p:txBody>
      </p:sp>
      <p:sp>
        <p:nvSpPr>
          <p:cNvPr id="24" name="Text 21"/>
          <p:cNvSpPr/>
          <p:nvPr/>
        </p:nvSpPr>
        <p:spPr>
          <a:xfrm>
            <a:off x="2135981" y="3086435"/>
            <a:ext cx="358973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86" dirty="0">
                <a:solidFill>
                  <a:srgbClr val="02809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+ w</a:t>
            </a:r>
            <a:endParaRPr lang="en-US" sz="1486" dirty="0"/>
          </a:p>
        </p:txBody>
      </p:sp>
      <p:sp>
        <p:nvSpPr>
          <p:cNvPr id="25" name="Text 22"/>
          <p:cNvSpPr/>
          <p:nvPr/>
        </p:nvSpPr>
        <p:spPr>
          <a:xfrm>
            <a:off x="2494955" y="3163928"/>
            <a:ext cx="87511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600"/>
              </a:lnSpc>
              <a:buNone/>
            </a:pPr>
            <a:r>
              <a:rPr lang="en-US" sz="1232" baseline="-40000" dirty="0">
                <a:solidFill>
                  <a:srgbClr val="02809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</a:t>
            </a:r>
            <a:endParaRPr lang="en-US" sz="1232" dirty="0"/>
          </a:p>
        </p:txBody>
      </p:sp>
      <p:sp>
        <p:nvSpPr>
          <p:cNvPr id="26" name="Text 23"/>
          <p:cNvSpPr/>
          <p:nvPr/>
        </p:nvSpPr>
        <p:spPr>
          <a:xfrm>
            <a:off x="2582466" y="3086435"/>
            <a:ext cx="160734" cy="26610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900"/>
              </a:lnSpc>
              <a:buNone/>
            </a:pPr>
            <a:r>
              <a:rPr lang="en-US" sz="1486" dirty="0">
                <a:solidFill>
                  <a:srgbClr val="028090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H</a:t>
            </a:r>
            <a:endParaRPr lang="en-US" sz="1486" dirty="0"/>
          </a:p>
        </p:txBody>
      </p:sp>
      <p:sp>
        <p:nvSpPr>
          <p:cNvPr id="27" name="Text 24"/>
          <p:cNvSpPr/>
          <p:nvPr/>
        </p:nvSpPr>
        <p:spPr>
          <a:xfrm>
            <a:off x="928688" y="3671134"/>
            <a:ext cx="2571750" cy="420002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ctr" indent="0" marL="0">
              <a:lnSpc>
                <a:spcPts val="1100"/>
              </a:lnSpc>
              <a:buNone/>
            </a:pPr>
            <a:r>
              <a:rPr lang="en-US" sz="727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weighted aggregation of inverse probability, reconstruction error, timing deviation, and Shannon entropy.</a:t>
            </a:r>
            <a:endParaRPr lang="en-US" sz="727" dirty="0"/>
          </a:p>
        </p:txBody>
      </p:sp>
      <p:sp>
        <p:nvSpPr>
          <p:cNvPr id="28" name="Shape 25"/>
          <p:cNvSpPr/>
          <p:nvPr/>
        </p:nvSpPr>
        <p:spPr>
          <a:xfrm>
            <a:off x="4179094" y="1327649"/>
            <a:ext cx="4321969" cy="10876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6"/>
          <p:cNvSpPr/>
          <p:nvPr/>
        </p:nvSpPr>
        <p:spPr>
          <a:xfrm>
            <a:off x="4179094" y="1327649"/>
            <a:ext cx="4321969" cy="28575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30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57688" y="1539283"/>
            <a:ext cx="160734" cy="142875"/>
          </a:xfrm>
          <a:prstGeom prst="rect">
            <a:avLst/>
          </a:prstGeom>
        </p:spPr>
      </p:pic>
      <p:sp>
        <p:nvSpPr>
          <p:cNvPr id="31" name="Text 27"/>
          <p:cNvSpPr/>
          <p:nvPr/>
        </p:nvSpPr>
        <p:spPr>
          <a:xfrm>
            <a:off x="4625578" y="1506243"/>
            <a:ext cx="2089547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02A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Identifying Zero-Day Attacks</a:t>
            </a:r>
            <a:endParaRPr lang="en-US" sz="1090" dirty="0"/>
          </a:p>
        </p:txBody>
      </p:sp>
      <p:sp>
        <p:nvSpPr>
          <p:cNvPr id="32" name="Text 28"/>
          <p:cNvSpPr/>
          <p:nvPr/>
        </p:nvSpPr>
        <p:spPr>
          <a:xfrm>
            <a:off x="4357688" y="1865216"/>
            <a:ext cx="396478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516" dirty="0">
                <a:solidFill>
                  <a:srgbClr val="00A8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r>
              <a:rPr lang="en-US" sz="834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Flags behavior that has never been seen during the training phase, </a:t>
            </a:r>
            <a:r>
              <a:rPr lang="en-US" sz="834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enabling detection of novel threats without signatures.</a:t>
            </a:r>
            <a:endParaRPr lang="en-US" sz="834" dirty="0"/>
          </a:p>
        </p:txBody>
      </p:sp>
      <p:sp>
        <p:nvSpPr>
          <p:cNvPr id="33" name="Shape 29"/>
          <p:cNvSpPr/>
          <p:nvPr/>
        </p:nvSpPr>
        <p:spPr>
          <a:xfrm>
            <a:off x="4179094" y="2529585"/>
            <a:ext cx="4321969" cy="10876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4" name="Shape 30"/>
          <p:cNvSpPr/>
          <p:nvPr/>
        </p:nvSpPr>
        <p:spPr>
          <a:xfrm>
            <a:off x="4179094" y="2529585"/>
            <a:ext cx="4321969" cy="28575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5" name="Text 31"/>
          <p:cNvSpPr/>
          <p:nvPr/>
        </p:nvSpPr>
        <p:spPr>
          <a:xfrm>
            <a:off x="4464844" y="2708179"/>
            <a:ext cx="1298377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02A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Proactive Defense</a:t>
            </a:r>
            <a:endParaRPr lang="en-US" sz="1090" dirty="0"/>
          </a:p>
        </p:txBody>
      </p:sp>
      <p:sp>
        <p:nvSpPr>
          <p:cNvPr id="36" name="Text 32"/>
          <p:cNvSpPr/>
          <p:nvPr/>
        </p:nvSpPr>
        <p:spPr>
          <a:xfrm>
            <a:off x="4357688" y="3067152"/>
            <a:ext cx="3964781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516" dirty="0">
                <a:solidFill>
                  <a:srgbClr val="00A8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r>
              <a:rPr lang="en-US" sz="834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Does not require prior knowledge of an attack's characteristics, </a:t>
            </a:r>
            <a:r>
              <a:rPr lang="en-US" sz="834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methods, or specific industrial protocol vulnerabilities.</a:t>
            </a:r>
            <a:endParaRPr lang="en-US" sz="834" dirty="0"/>
          </a:p>
        </p:txBody>
      </p:sp>
      <p:sp>
        <p:nvSpPr>
          <p:cNvPr id="37" name="Shape 33"/>
          <p:cNvSpPr/>
          <p:nvPr/>
        </p:nvSpPr>
        <p:spPr>
          <a:xfrm>
            <a:off x="4179094" y="3731521"/>
            <a:ext cx="4321969" cy="110510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8" name="Shape 34"/>
          <p:cNvSpPr/>
          <p:nvPr/>
        </p:nvSpPr>
        <p:spPr>
          <a:xfrm>
            <a:off x="4179094" y="3731521"/>
            <a:ext cx="4321969" cy="28575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39" name="Text 35"/>
          <p:cNvSpPr/>
          <p:nvPr/>
        </p:nvSpPr>
        <p:spPr>
          <a:xfrm>
            <a:off x="4464844" y="3910115"/>
            <a:ext cx="1664494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02A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Actionable Intelligence</a:t>
            </a:r>
            <a:endParaRPr lang="en-US" sz="1090" dirty="0"/>
          </a:p>
        </p:txBody>
      </p:sp>
      <p:sp>
        <p:nvSpPr>
          <p:cNvPr id="40" name="Text 36"/>
          <p:cNvSpPr/>
          <p:nvPr/>
        </p:nvSpPr>
        <p:spPr>
          <a:xfrm>
            <a:off x="4357688" y="4326238"/>
            <a:ext cx="43169" cy="8751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800"/>
              </a:lnSpc>
              <a:buNone/>
            </a:pPr>
            <a:r>
              <a:rPr lang="en-US" sz="516" dirty="0">
                <a:solidFill>
                  <a:srgbClr val="00A8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endParaRPr lang="en-US" sz="516" dirty="0"/>
          </a:p>
        </p:txBody>
      </p:sp>
      <p:sp>
        <p:nvSpPr>
          <p:cNvPr id="41" name="Text 37"/>
          <p:cNvSpPr/>
          <p:nvPr/>
        </p:nvSpPr>
        <p:spPr>
          <a:xfrm>
            <a:off x="4458007" y="4285162"/>
            <a:ext cx="401836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 U</a:t>
            </a:r>
            <a:endParaRPr lang="en-US" sz="834" dirty="0"/>
          </a:p>
        </p:txBody>
      </p:sp>
      <p:sp>
        <p:nvSpPr>
          <p:cNvPr id="42" name="Text 38"/>
          <p:cNvSpPr/>
          <p:nvPr/>
        </p:nvSpPr>
        <p:spPr>
          <a:xfrm>
            <a:off x="4859843" y="4327661"/>
            <a:ext cx="30361" cy="116086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691" baseline="-4000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</a:t>
            </a:r>
            <a:endParaRPr lang="en-US" sz="691" dirty="0"/>
          </a:p>
        </p:txBody>
      </p:sp>
      <p:sp>
        <p:nvSpPr>
          <p:cNvPr id="43" name="Text 39"/>
          <p:cNvSpPr/>
          <p:nvPr/>
        </p:nvSpPr>
        <p:spPr>
          <a:xfrm>
            <a:off x="4890204" y="4285162"/>
            <a:ext cx="313432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scores trigger immediate forensic investigation, providing</a:t>
            </a:r>
            <a:endParaRPr lang="en-US" sz="834" dirty="0"/>
          </a:p>
        </p:txBody>
      </p:sp>
      <p:sp>
        <p:nvSpPr>
          <p:cNvPr id="44" name="Text 40"/>
          <p:cNvSpPr/>
          <p:nvPr/>
        </p:nvSpPr>
        <p:spPr>
          <a:xfrm>
            <a:off x="4357688" y="4474080"/>
            <a:ext cx="323076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834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operators with a clear signal of abnormal process evolution.</a:t>
            </a:r>
            <a:endParaRPr lang="en-US" sz="834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2938" y="428625"/>
            <a:ext cx="785812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02A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Validation: The SWaT Testbed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642938" y="1271588"/>
            <a:ext cx="2750344" cy="3691533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642938" y="1271588"/>
            <a:ext cx="2750344" cy="28575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3"/>
          <p:cNvSpPr/>
          <p:nvPr/>
        </p:nvSpPr>
        <p:spPr>
          <a:xfrm>
            <a:off x="928688" y="2021681"/>
            <a:ext cx="217884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592" dirty="0">
                <a:solidFill>
                  <a:srgbClr val="00A89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1.4M</a:t>
            </a:r>
            <a:endParaRPr lang="en-US" sz="2592" dirty="0"/>
          </a:p>
        </p:txBody>
      </p:sp>
      <p:sp>
        <p:nvSpPr>
          <p:cNvPr id="7" name="Text 4"/>
          <p:cNvSpPr/>
          <p:nvPr/>
        </p:nvSpPr>
        <p:spPr>
          <a:xfrm>
            <a:off x="928688" y="2400300"/>
            <a:ext cx="217884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spc="1" kern="0" dirty="0">
                <a:solidFill>
                  <a:srgbClr val="10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TOTAL RECORDS</a:t>
            </a:r>
            <a:endParaRPr lang="en-US" sz="834" dirty="0"/>
          </a:p>
        </p:txBody>
      </p:sp>
      <p:sp>
        <p:nvSpPr>
          <p:cNvPr id="8" name="Text 5"/>
          <p:cNvSpPr/>
          <p:nvPr/>
        </p:nvSpPr>
        <p:spPr>
          <a:xfrm>
            <a:off x="928688" y="2752130"/>
            <a:ext cx="217884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592" dirty="0">
                <a:solidFill>
                  <a:srgbClr val="00A89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51</a:t>
            </a:r>
            <a:endParaRPr lang="en-US" sz="2592" dirty="0"/>
          </a:p>
        </p:txBody>
      </p:sp>
      <p:sp>
        <p:nvSpPr>
          <p:cNvPr id="9" name="Text 6"/>
          <p:cNvSpPr/>
          <p:nvPr/>
        </p:nvSpPr>
        <p:spPr>
          <a:xfrm>
            <a:off x="928688" y="3130748"/>
            <a:ext cx="217884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spc="1" kern="0" dirty="0">
                <a:solidFill>
                  <a:srgbClr val="10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SENSORS &amp; ACTUATORS</a:t>
            </a:r>
            <a:endParaRPr lang="en-US" sz="834" dirty="0"/>
          </a:p>
        </p:txBody>
      </p:sp>
      <p:sp>
        <p:nvSpPr>
          <p:cNvPr id="10" name="Text 7"/>
          <p:cNvSpPr/>
          <p:nvPr/>
        </p:nvSpPr>
        <p:spPr>
          <a:xfrm>
            <a:off x="928688" y="3482578"/>
            <a:ext cx="2178844" cy="3429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2700"/>
              </a:lnSpc>
              <a:buNone/>
            </a:pPr>
            <a:r>
              <a:rPr lang="en-US" sz="2592" dirty="0">
                <a:solidFill>
                  <a:srgbClr val="00A89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41</a:t>
            </a:r>
            <a:endParaRPr lang="en-US" sz="2592" dirty="0"/>
          </a:p>
        </p:txBody>
      </p:sp>
      <p:sp>
        <p:nvSpPr>
          <p:cNvPr id="11" name="Text 8"/>
          <p:cNvSpPr/>
          <p:nvPr/>
        </p:nvSpPr>
        <p:spPr>
          <a:xfrm>
            <a:off x="928688" y="3861197"/>
            <a:ext cx="217884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100"/>
              </a:lnSpc>
              <a:buNone/>
            </a:pPr>
            <a:r>
              <a:rPr lang="en-US" sz="834" spc="1" kern="0" dirty="0">
                <a:solidFill>
                  <a:srgbClr val="102A43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ATTACK SCENARIOS</a:t>
            </a:r>
            <a:endParaRPr lang="en-US" sz="834" dirty="0"/>
          </a:p>
        </p:txBody>
      </p:sp>
      <p:sp>
        <p:nvSpPr>
          <p:cNvPr id="12" name="Shape 9"/>
          <p:cNvSpPr/>
          <p:nvPr/>
        </p:nvSpPr>
        <p:spPr>
          <a:xfrm>
            <a:off x="3786188" y="1271588"/>
            <a:ext cx="4714875" cy="10876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10"/>
          <p:cNvSpPr/>
          <p:nvPr/>
        </p:nvSpPr>
        <p:spPr>
          <a:xfrm>
            <a:off x="3786188" y="1271588"/>
            <a:ext cx="4714875" cy="28575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1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964781" y="1483221"/>
            <a:ext cx="142875" cy="142875"/>
          </a:xfrm>
          <a:prstGeom prst="rect">
            <a:avLst/>
          </a:prstGeom>
        </p:spPr>
      </p:pic>
      <p:sp>
        <p:nvSpPr>
          <p:cNvPr id="15" name="Text 11"/>
          <p:cNvSpPr/>
          <p:nvPr/>
        </p:nvSpPr>
        <p:spPr>
          <a:xfrm>
            <a:off x="4214813" y="1450181"/>
            <a:ext cx="1760934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02A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Source &amp; Infrastructure</a:t>
            </a:r>
            <a:endParaRPr lang="en-US" sz="1090" dirty="0"/>
          </a:p>
        </p:txBody>
      </p:sp>
      <p:sp>
        <p:nvSpPr>
          <p:cNvPr id="16" name="Text 12"/>
          <p:cNvSpPr/>
          <p:nvPr/>
        </p:nvSpPr>
        <p:spPr>
          <a:xfrm>
            <a:off x="3964781" y="1809155"/>
            <a:ext cx="43576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516" dirty="0">
                <a:solidFill>
                  <a:srgbClr val="00A8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r>
              <a:rPr lang="en-US" sz="834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Developed by iTrust, SUTD (Singapore). A fully operational water treatment </a:t>
            </a:r>
            <a:r>
              <a:rPr lang="en-US" sz="834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facility with 6 interconnected sub-processes.</a:t>
            </a:r>
            <a:endParaRPr lang="en-US" sz="834" dirty="0"/>
          </a:p>
        </p:txBody>
      </p:sp>
      <p:sp>
        <p:nvSpPr>
          <p:cNvPr id="17" name="Shape 13"/>
          <p:cNvSpPr/>
          <p:nvPr/>
        </p:nvSpPr>
        <p:spPr>
          <a:xfrm>
            <a:off x="3786188" y="2473523"/>
            <a:ext cx="4714875" cy="10876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8" name="Shape 14"/>
          <p:cNvSpPr/>
          <p:nvPr/>
        </p:nvSpPr>
        <p:spPr>
          <a:xfrm>
            <a:off x="3786188" y="2473523"/>
            <a:ext cx="4714875" cy="28575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19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64781" y="2685157"/>
            <a:ext cx="142875" cy="142875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4214813" y="2652117"/>
            <a:ext cx="1498402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02A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Realistic Attack Data</a:t>
            </a:r>
            <a:endParaRPr lang="en-US" sz="1090" dirty="0"/>
          </a:p>
        </p:txBody>
      </p:sp>
      <p:sp>
        <p:nvSpPr>
          <p:cNvPr id="21" name="Text 16"/>
          <p:cNvSpPr/>
          <p:nvPr/>
        </p:nvSpPr>
        <p:spPr>
          <a:xfrm>
            <a:off x="3964781" y="3011091"/>
            <a:ext cx="43576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516" dirty="0">
                <a:solidFill>
                  <a:srgbClr val="00A8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r>
              <a:rPr lang="en-US" sz="834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Dataset covers 11 days of operation, including coordinated red-team attacks </a:t>
            </a:r>
            <a:r>
              <a:rPr lang="en-US" sz="834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like valve manipulation and sensor spoofing.</a:t>
            </a:r>
            <a:endParaRPr lang="en-US" sz="834" dirty="0"/>
          </a:p>
        </p:txBody>
      </p:sp>
      <p:sp>
        <p:nvSpPr>
          <p:cNvPr id="22" name="Shape 17"/>
          <p:cNvSpPr/>
          <p:nvPr/>
        </p:nvSpPr>
        <p:spPr>
          <a:xfrm>
            <a:off x="3786188" y="3675459"/>
            <a:ext cx="4714875" cy="1087636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3" name="Shape 18"/>
          <p:cNvSpPr/>
          <p:nvPr/>
        </p:nvSpPr>
        <p:spPr>
          <a:xfrm>
            <a:off x="3786188" y="3675459"/>
            <a:ext cx="4714875" cy="28575"/>
          </a:xfrm>
          <a:prstGeom prst="rect">
            <a:avLst/>
          </a:prstGeom>
          <a:solidFill>
            <a:srgbClr val="00A896"/>
          </a:solidFill>
          <a:ln/>
        </p:spPr>
      </p:sp>
      <p:pic>
        <p:nvPicPr>
          <p:cNvPr id="24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64781" y="3887093"/>
            <a:ext cx="125016" cy="142875"/>
          </a:xfrm>
          <a:prstGeom prst="rect">
            <a:avLst/>
          </a:prstGeom>
        </p:spPr>
      </p:pic>
      <p:sp>
        <p:nvSpPr>
          <p:cNvPr id="25" name="Text 19"/>
          <p:cNvSpPr/>
          <p:nvPr/>
        </p:nvSpPr>
        <p:spPr>
          <a:xfrm>
            <a:off x="4196953" y="3854053"/>
            <a:ext cx="1796653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02A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Ground Truth Validation</a:t>
            </a:r>
            <a:endParaRPr lang="en-US" sz="1090" dirty="0"/>
          </a:p>
        </p:txBody>
      </p:sp>
      <p:sp>
        <p:nvSpPr>
          <p:cNvPr id="26" name="Text 20"/>
          <p:cNvSpPr/>
          <p:nvPr/>
        </p:nvSpPr>
        <p:spPr>
          <a:xfrm>
            <a:off x="3964781" y="4213027"/>
            <a:ext cx="4357688" cy="3429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516" dirty="0">
                <a:solidFill>
                  <a:srgbClr val="00A8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r>
              <a:rPr lang="en-US" sz="834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Rigorous validation against 41 different cyber-physical attack scenarios to </a:t>
            </a:r>
            <a:r>
              <a:rPr lang="en-US" sz="834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ensure comprehensive detection coverage.</a:t>
            </a:r>
            <a:endParaRPr lang="en-US" sz="834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2938" y="428625"/>
            <a:ext cx="785812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02A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Performance Benchmarking: Superior Results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642938" y="1200150"/>
            <a:ext cx="4321969" cy="3523655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642938" y="1200150"/>
            <a:ext cx="4321969" cy="28575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6" name="Text 3"/>
          <p:cNvSpPr/>
          <p:nvPr/>
        </p:nvSpPr>
        <p:spPr>
          <a:xfrm>
            <a:off x="857250" y="1414463"/>
            <a:ext cx="3893344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02A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F1-Score Comparison (SWaT Dataset)</a:t>
            </a:r>
            <a:endParaRPr lang="en-US" sz="1090" dirty="0"/>
          </a:p>
        </p:txBody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766292"/>
            <a:ext cx="3893344" cy="2714625"/>
          </a:xfrm>
          <a:prstGeom prst="rect">
            <a:avLst/>
          </a:prstGeom>
        </p:spPr>
      </p:pic>
      <p:sp>
        <p:nvSpPr>
          <p:cNvPr id="8" name="Shape 4"/>
          <p:cNvSpPr/>
          <p:nvPr/>
        </p:nvSpPr>
        <p:spPr>
          <a:xfrm>
            <a:off x="5357813" y="1200150"/>
            <a:ext cx="3143250" cy="99298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9" name="Shape 5"/>
          <p:cNvSpPr/>
          <p:nvPr/>
        </p:nvSpPr>
        <p:spPr>
          <a:xfrm>
            <a:off x="5357813" y="1200150"/>
            <a:ext cx="3143250" cy="28575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0" name="Text 6"/>
          <p:cNvSpPr/>
          <p:nvPr/>
        </p:nvSpPr>
        <p:spPr>
          <a:xfrm>
            <a:off x="5536406" y="1361777"/>
            <a:ext cx="621506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02A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Precision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7888486" y="1343025"/>
            <a:ext cx="43398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A89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97.6%</a:t>
            </a:r>
            <a:endParaRPr lang="en-US" sz="1193" dirty="0"/>
          </a:p>
        </p:txBody>
      </p:sp>
      <p:sp>
        <p:nvSpPr>
          <p:cNvPr id="12" name="Text 8"/>
          <p:cNvSpPr/>
          <p:nvPr/>
        </p:nvSpPr>
        <p:spPr>
          <a:xfrm>
            <a:off x="5536406" y="1721644"/>
            <a:ext cx="278606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516" dirty="0">
                <a:solidFill>
                  <a:srgbClr val="00A8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r>
              <a:rPr lang="en-US" sz="78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Extremely low false alarm rate; critical for </a:t>
            </a:r>
            <a:r>
              <a:rPr lang="en-US" sz="78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maintaining trust in industrial operations.</a:t>
            </a:r>
            <a:endParaRPr lang="en-US" sz="516" dirty="0"/>
          </a:p>
        </p:txBody>
      </p:sp>
      <p:sp>
        <p:nvSpPr>
          <p:cNvPr id="13" name="Shape 9"/>
          <p:cNvSpPr/>
          <p:nvPr/>
        </p:nvSpPr>
        <p:spPr>
          <a:xfrm>
            <a:off x="5357813" y="2307431"/>
            <a:ext cx="3143250" cy="99298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Shape 10"/>
          <p:cNvSpPr/>
          <p:nvPr/>
        </p:nvSpPr>
        <p:spPr>
          <a:xfrm>
            <a:off x="5357813" y="2307431"/>
            <a:ext cx="3143250" cy="28575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15" name="Text 11"/>
          <p:cNvSpPr/>
          <p:nvPr/>
        </p:nvSpPr>
        <p:spPr>
          <a:xfrm>
            <a:off x="5536406" y="2469059"/>
            <a:ext cx="578644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02A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F1-Score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7893844" y="2450306"/>
            <a:ext cx="428625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A89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93.3%</a:t>
            </a:r>
            <a:endParaRPr lang="en-US" sz="1193" dirty="0"/>
          </a:p>
        </p:txBody>
      </p:sp>
      <p:sp>
        <p:nvSpPr>
          <p:cNvPr id="17" name="Text 13"/>
          <p:cNvSpPr/>
          <p:nvPr/>
        </p:nvSpPr>
        <p:spPr>
          <a:xfrm>
            <a:off x="5536406" y="2828925"/>
            <a:ext cx="278606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516" dirty="0">
                <a:solidFill>
                  <a:srgbClr val="00A8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r>
              <a:rPr lang="en-US" sz="78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Best-in-class balanced performance, outperforming </a:t>
            </a:r>
            <a:r>
              <a:rPr lang="en-US" sz="78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deep learning methods.</a:t>
            </a:r>
            <a:endParaRPr lang="en-US" sz="516" dirty="0"/>
          </a:p>
        </p:txBody>
      </p:sp>
      <p:sp>
        <p:nvSpPr>
          <p:cNvPr id="18" name="Shape 14"/>
          <p:cNvSpPr/>
          <p:nvPr/>
        </p:nvSpPr>
        <p:spPr>
          <a:xfrm>
            <a:off x="5357813" y="3414713"/>
            <a:ext cx="3143250" cy="992981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9" name="Shape 15"/>
          <p:cNvSpPr/>
          <p:nvPr/>
        </p:nvSpPr>
        <p:spPr>
          <a:xfrm>
            <a:off x="5357813" y="3414713"/>
            <a:ext cx="3143250" cy="28575"/>
          </a:xfrm>
          <a:prstGeom prst="rect">
            <a:avLst/>
          </a:prstGeom>
          <a:solidFill>
            <a:srgbClr val="00A896"/>
          </a:solidFill>
          <a:ln/>
        </p:spPr>
      </p:sp>
      <p:sp>
        <p:nvSpPr>
          <p:cNvPr id="20" name="Text 16"/>
          <p:cNvSpPr/>
          <p:nvPr/>
        </p:nvSpPr>
        <p:spPr>
          <a:xfrm>
            <a:off x="5536406" y="3576340"/>
            <a:ext cx="609005" cy="19109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400"/>
              </a:lnSpc>
              <a:buNone/>
            </a:pPr>
            <a:r>
              <a:rPr lang="en-US" sz="1050" dirty="0">
                <a:solidFill>
                  <a:srgbClr val="102A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Accuracy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7868841" y="3557588"/>
            <a:ext cx="453628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00A896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89.4%</a:t>
            </a:r>
            <a:endParaRPr lang="en-US" sz="1193" dirty="0"/>
          </a:p>
        </p:txBody>
      </p:sp>
      <p:sp>
        <p:nvSpPr>
          <p:cNvPr id="22" name="Text 18"/>
          <p:cNvSpPr/>
          <p:nvPr/>
        </p:nvSpPr>
        <p:spPr>
          <a:xfrm>
            <a:off x="5536406" y="3936206"/>
            <a:ext cx="2786063" cy="30003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200"/>
              </a:lnSpc>
              <a:buNone/>
            </a:pPr>
            <a:r>
              <a:rPr lang="en-US" sz="516" dirty="0">
                <a:solidFill>
                  <a:srgbClr val="00A8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r>
              <a:rPr lang="en-US" sz="78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Reliable detection across diverse and sophisticated </a:t>
            </a:r>
            <a:r>
              <a:rPr lang="en-US" sz="780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cyber-physical attack vectors.</a:t>
            </a:r>
            <a:endParaRPr lang="en-US" sz="516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2938" y="428625"/>
            <a:ext cx="785812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02A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The Behavioral EDR Dashboard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642938" y="1271588"/>
            <a:ext cx="2524116" cy="157050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642938" y="1271588"/>
            <a:ext cx="2524116" cy="28575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1531" y="1483221"/>
            <a:ext cx="142875" cy="14287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050131" y="1450181"/>
            <a:ext cx="1634133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02A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Real-Time Monitoring</a:t>
            </a:r>
            <a:endParaRPr lang="en-US" sz="1090" dirty="0"/>
          </a:p>
        </p:txBody>
      </p:sp>
      <p:sp>
        <p:nvSpPr>
          <p:cNvPr id="8" name="Text 4"/>
          <p:cNvSpPr/>
          <p:nvPr/>
        </p:nvSpPr>
        <p:spPr>
          <a:xfrm>
            <a:off x="821531" y="1880592"/>
            <a:ext cx="216692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485" b="1" dirty="0">
                <a:solidFill>
                  <a:srgbClr val="00A8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r>
              <a:rPr lang="en-US" sz="784" b="1" dirty="0">
                <a:solidFill>
                  <a:srgbClr val="028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Live Metric Tracking</a:t>
            </a:r>
            <a:endParaRPr lang="en-US" sz="485" dirty="0"/>
          </a:p>
        </p:txBody>
      </p:sp>
      <p:sp>
        <p:nvSpPr>
          <p:cNvPr id="9" name="Text 5"/>
          <p:cNvSpPr/>
          <p:nvPr/>
        </p:nvSpPr>
        <p:spPr>
          <a:xfrm>
            <a:off x="821531" y="2079892"/>
            <a:ext cx="146446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Continuous visualization of</a:t>
            </a:r>
            <a:endParaRPr lang="en-US" sz="834" dirty="0"/>
          </a:p>
        </p:txBody>
      </p:sp>
      <p:sp>
        <p:nvSpPr>
          <p:cNvPr id="10" name="Text 6"/>
          <p:cNvSpPr/>
          <p:nvPr/>
        </p:nvSpPr>
        <p:spPr>
          <a:xfrm>
            <a:off x="821531" y="2239900"/>
            <a:ext cx="2118122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Mahalanobis Distance (D_M), Unknown</a:t>
            </a:r>
            <a:endParaRPr lang="en-US" sz="834" dirty="0"/>
          </a:p>
        </p:txBody>
      </p:sp>
      <p:sp>
        <p:nvSpPr>
          <p:cNvPr id="11" name="Text 7"/>
          <p:cNvSpPr/>
          <p:nvPr/>
        </p:nvSpPr>
        <p:spPr>
          <a:xfrm>
            <a:off x="821531" y="2399909"/>
            <a:ext cx="180022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Score (Ut), and Shannon Entropy.</a:t>
            </a:r>
            <a:endParaRPr lang="en-US" sz="834" dirty="0"/>
          </a:p>
        </p:txBody>
      </p:sp>
      <p:sp>
        <p:nvSpPr>
          <p:cNvPr id="12" name="Shape 8"/>
          <p:cNvSpPr/>
          <p:nvPr/>
        </p:nvSpPr>
        <p:spPr>
          <a:xfrm>
            <a:off x="3309928" y="1271588"/>
            <a:ext cx="2524116" cy="157050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3" name="Shape 9"/>
          <p:cNvSpPr/>
          <p:nvPr/>
        </p:nvSpPr>
        <p:spPr>
          <a:xfrm>
            <a:off x="3309928" y="1271588"/>
            <a:ext cx="2524116" cy="28575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4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488522" y="1483221"/>
            <a:ext cx="160734" cy="142875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3734981" y="1450181"/>
            <a:ext cx="1339453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02A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Visual Intelligence</a:t>
            </a:r>
            <a:endParaRPr lang="en-US" sz="1090" dirty="0"/>
          </a:p>
        </p:txBody>
      </p:sp>
      <p:sp>
        <p:nvSpPr>
          <p:cNvPr id="16" name="Text 11"/>
          <p:cNvSpPr/>
          <p:nvPr/>
        </p:nvSpPr>
        <p:spPr>
          <a:xfrm>
            <a:off x="3488522" y="1880592"/>
            <a:ext cx="216692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485" b="1" dirty="0">
                <a:solidFill>
                  <a:srgbClr val="00A8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r>
              <a:rPr lang="en-US" sz="784" b="1" dirty="0">
                <a:solidFill>
                  <a:srgbClr val="028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System Health Gauge</a:t>
            </a:r>
            <a:endParaRPr lang="en-US" sz="485" dirty="0"/>
          </a:p>
        </p:txBody>
      </p:sp>
      <p:sp>
        <p:nvSpPr>
          <p:cNvPr id="17" name="Text 12"/>
          <p:cNvSpPr/>
          <p:nvPr/>
        </p:nvSpPr>
        <p:spPr>
          <a:xfrm>
            <a:off x="3488522" y="2079892"/>
            <a:ext cx="199667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Instant visual status of the monitored</a:t>
            </a:r>
            <a:endParaRPr lang="en-US" sz="834" dirty="0"/>
          </a:p>
        </p:txBody>
      </p:sp>
      <p:sp>
        <p:nvSpPr>
          <p:cNvPr id="18" name="Text 13"/>
          <p:cNvSpPr/>
          <p:nvPr/>
        </p:nvSpPr>
        <p:spPr>
          <a:xfrm>
            <a:off x="3488522" y="2239900"/>
            <a:ext cx="1955602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industrial process with a rolling 100-</a:t>
            </a:r>
            <a:endParaRPr lang="en-US" sz="834" dirty="0"/>
          </a:p>
        </p:txBody>
      </p:sp>
      <p:sp>
        <p:nvSpPr>
          <p:cNvPr id="19" name="Text 14"/>
          <p:cNvSpPr/>
          <p:nvPr/>
        </p:nvSpPr>
        <p:spPr>
          <a:xfrm>
            <a:off x="3488522" y="2399909"/>
            <a:ext cx="102870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packet threat level.</a:t>
            </a:r>
            <a:endParaRPr lang="en-US" sz="834" dirty="0"/>
          </a:p>
        </p:txBody>
      </p:sp>
      <p:sp>
        <p:nvSpPr>
          <p:cNvPr id="20" name="Shape 15"/>
          <p:cNvSpPr/>
          <p:nvPr/>
        </p:nvSpPr>
        <p:spPr>
          <a:xfrm>
            <a:off x="5976919" y="1271588"/>
            <a:ext cx="2524144" cy="157050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1" name="Shape 16"/>
          <p:cNvSpPr/>
          <p:nvPr/>
        </p:nvSpPr>
        <p:spPr>
          <a:xfrm>
            <a:off x="5976919" y="1271588"/>
            <a:ext cx="2524144" cy="28575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22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5513" y="1483221"/>
            <a:ext cx="142875" cy="142875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6384113" y="1450181"/>
            <a:ext cx="1148358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02A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SOC Alert Table</a:t>
            </a:r>
            <a:endParaRPr lang="en-US" sz="1090" dirty="0"/>
          </a:p>
        </p:txBody>
      </p:sp>
      <p:sp>
        <p:nvSpPr>
          <p:cNvPr id="24" name="Text 18"/>
          <p:cNvSpPr/>
          <p:nvPr/>
        </p:nvSpPr>
        <p:spPr>
          <a:xfrm>
            <a:off x="6155513" y="1880592"/>
            <a:ext cx="2166956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485" b="1" dirty="0">
                <a:solidFill>
                  <a:srgbClr val="00A8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r>
              <a:rPr lang="en-US" sz="784" b="1" dirty="0">
                <a:solidFill>
                  <a:srgbClr val="028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Detailed Attribution</a:t>
            </a:r>
            <a:endParaRPr lang="en-US" sz="485" dirty="0"/>
          </a:p>
        </p:txBody>
      </p:sp>
      <p:sp>
        <p:nvSpPr>
          <p:cNvPr id="25" name="Text 19"/>
          <p:cNvSpPr/>
          <p:nvPr/>
        </p:nvSpPr>
        <p:spPr>
          <a:xfrm>
            <a:off x="6155513" y="2079892"/>
            <a:ext cx="215026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Filterable alert logs with specific sensor</a:t>
            </a:r>
            <a:endParaRPr lang="en-US" sz="834" dirty="0"/>
          </a:p>
        </p:txBody>
      </p:sp>
      <p:sp>
        <p:nvSpPr>
          <p:cNvPr id="26" name="Text 20"/>
          <p:cNvSpPr/>
          <p:nvPr/>
        </p:nvSpPr>
        <p:spPr>
          <a:xfrm>
            <a:off x="6155513" y="2239900"/>
            <a:ext cx="206275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identification and severity-based drill-</a:t>
            </a:r>
            <a:endParaRPr lang="en-US" sz="834" dirty="0"/>
          </a:p>
        </p:txBody>
      </p:sp>
      <p:sp>
        <p:nvSpPr>
          <p:cNvPr id="27" name="Text 21"/>
          <p:cNvSpPr/>
          <p:nvPr/>
        </p:nvSpPr>
        <p:spPr>
          <a:xfrm>
            <a:off x="6155513" y="2399909"/>
            <a:ext cx="719733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down panels.</a:t>
            </a:r>
            <a:endParaRPr lang="en-US" sz="834" dirty="0"/>
          </a:p>
        </p:txBody>
      </p:sp>
      <p:sp>
        <p:nvSpPr>
          <p:cNvPr id="28" name="Shape 22"/>
          <p:cNvSpPr/>
          <p:nvPr/>
        </p:nvSpPr>
        <p:spPr>
          <a:xfrm>
            <a:off x="642938" y="2956396"/>
            <a:ext cx="2524116" cy="157050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9" name="Shape 23"/>
          <p:cNvSpPr/>
          <p:nvPr/>
        </p:nvSpPr>
        <p:spPr>
          <a:xfrm>
            <a:off x="642938" y="2956396"/>
            <a:ext cx="2524116" cy="28575"/>
          </a:xfrm>
          <a:prstGeom prst="rect">
            <a:avLst/>
          </a:prstGeom>
          <a:solidFill>
            <a:srgbClr val="028090"/>
          </a:solidFill>
          <a:ln/>
        </p:spPr>
      </p:sp>
      <p:sp>
        <p:nvSpPr>
          <p:cNvPr id="30" name="Text 24"/>
          <p:cNvSpPr/>
          <p:nvPr/>
        </p:nvSpPr>
        <p:spPr>
          <a:xfrm>
            <a:off x="907256" y="3134990"/>
            <a:ext cx="1121569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02A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Interpretability</a:t>
            </a:r>
            <a:endParaRPr lang="en-US" sz="1090" dirty="0"/>
          </a:p>
        </p:txBody>
      </p:sp>
      <p:sp>
        <p:nvSpPr>
          <p:cNvPr id="31" name="Text 25"/>
          <p:cNvSpPr/>
          <p:nvPr/>
        </p:nvSpPr>
        <p:spPr>
          <a:xfrm>
            <a:off x="821531" y="3565401"/>
            <a:ext cx="216692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485" b="1" dirty="0">
                <a:solidFill>
                  <a:srgbClr val="00A8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r>
              <a:rPr lang="en-US" sz="784" b="1" dirty="0">
                <a:solidFill>
                  <a:srgbClr val="028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Transparent Evidence</a:t>
            </a:r>
            <a:endParaRPr lang="en-US" sz="485" dirty="0"/>
          </a:p>
        </p:txBody>
      </p:sp>
      <p:sp>
        <p:nvSpPr>
          <p:cNvPr id="32" name="Text 26"/>
          <p:cNvSpPr/>
          <p:nvPr/>
        </p:nvSpPr>
        <p:spPr>
          <a:xfrm>
            <a:off x="821531" y="3764700"/>
            <a:ext cx="1723430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Moves beyond "black-box" AI—</a:t>
            </a:r>
            <a:endParaRPr lang="en-US" sz="834" dirty="0"/>
          </a:p>
        </p:txBody>
      </p:sp>
      <p:sp>
        <p:nvSpPr>
          <p:cNvPr id="33" name="Text 27"/>
          <p:cNvSpPr/>
          <p:nvPr/>
        </p:nvSpPr>
        <p:spPr>
          <a:xfrm>
            <a:off x="821531" y="3924709"/>
            <a:ext cx="203239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operators see the exact mathematical</a:t>
            </a:r>
            <a:endParaRPr lang="en-US" sz="834" dirty="0"/>
          </a:p>
        </p:txBody>
      </p:sp>
      <p:sp>
        <p:nvSpPr>
          <p:cNvPr id="34" name="Text 28"/>
          <p:cNvSpPr/>
          <p:nvPr/>
        </p:nvSpPr>
        <p:spPr>
          <a:xfrm>
            <a:off x="821531" y="4084718"/>
            <a:ext cx="177879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formulas behind every detection.</a:t>
            </a:r>
            <a:endParaRPr lang="en-US" sz="834" dirty="0"/>
          </a:p>
        </p:txBody>
      </p:sp>
      <p:sp>
        <p:nvSpPr>
          <p:cNvPr id="35" name="Shape 29"/>
          <p:cNvSpPr/>
          <p:nvPr/>
        </p:nvSpPr>
        <p:spPr>
          <a:xfrm>
            <a:off x="3309928" y="2956396"/>
            <a:ext cx="2524116" cy="157050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6" name="Shape 30"/>
          <p:cNvSpPr/>
          <p:nvPr/>
        </p:nvSpPr>
        <p:spPr>
          <a:xfrm>
            <a:off x="3309928" y="2956396"/>
            <a:ext cx="2524116" cy="28575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37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88522" y="3168030"/>
            <a:ext cx="178594" cy="142875"/>
          </a:xfrm>
          <a:prstGeom prst="rect">
            <a:avLst/>
          </a:prstGeom>
        </p:spPr>
      </p:pic>
      <p:sp>
        <p:nvSpPr>
          <p:cNvPr id="38" name="Text 31"/>
          <p:cNvSpPr/>
          <p:nvPr/>
        </p:nvSpPr>
        <p:spPr>
          <a:xfrm>
            <a:off x="3752841" y="3134990"/>
            <a:ext cx="1089422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02A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Event Timeline</a:t>
            </a:r>
            <a:endParaRPr lang="en-US" sz="1090" dirty="0"/>
          </a:p>
        </p:txBody>
      </p:sp>
      <p:sp>
        <p:nvSpPr>
          <p:cNvPr id="39" name="Text 32"/>
          <p:cNvSpPr/>
          <p:nvPr/>
        </p:nvSpPr>
        <p:spPr>
          <a:xfrm>
            <a:off x="3488522" y="3565401"/>
            <a:ext cx="2166928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485" b="1" dirty="0">
                <a:solidFill>
                  <a:srgbClr val="00A8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r>
              <a:rPr lang="en-US" sz="784" b="1" dirty="0">
                <a:solidFill>
                  <a:srgbClr val="028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Attack Narrative</a:t>
            </a:r>
            <a:endParaRPr lang="en-US" sz="485" dirty="0"/>
          </a:p>
        </p:txBody>
      </p:sp>
      <p:sp>
        <p:nvSpPr>
          <p:cNvPr id="40" name="Text 33"/>
          <p:cNvSpPr/>
          <p:nvPr/>
        </p:nvSpPr>
        <p:spPr>
          <a:xfrm>
            <a:off x="3488522" y="3764700"/>
            <a:ext cx="1803797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Chronological history of detected</a:t>
            </a:r>
            <a:endParaRPr lang="en-US" sz="834" dirty="0"/>
          </a:p>
        </p:txBody>
      </p:sp>
      <p:sp>
        <p:nvSpPr>
          <p:cNvPr id="41" name="Text 34"/>
          <p:cNvSpPr/>
          <p:nvPr/>
        </p:nvSpPr>
        <p:spPr>
          <a:xfrm>
            <a:off x="3488522" y="3924709"/>
            <a:ext cx="1859161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anomalies, system responses, and</a:t>
            </a:r>
            <a:endParaRPr lang="en-US" sz="834" dirty="0"/>
          </a:p>
        </p:txBody>
      </p:sp>
      <p:sp>
        <p:nvSpPr>
          <p:cNvPr id="42" name="Text 35"/>
          <p:cNvSpPr/>
          <p:nvPr/>
        </p:nvSpPr>
        <p:spPr>
          <a:xfrm>
            <a:off x="3488522" y="4084718"/>
            <a:ext cx="1064419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forensic audit trails.</a:t>
            </a:r>
            <a:endParaRPr lang="en-US" sz="834" dirty="0"/>
          </a:p>
        </p:txBody>
      </p:sp>
      <p:sp>
        <p:nvSpPr>
          <p:cNvPr id="43" name="Shape 36"/>
          <p:cNvSpPr/>
          <p:nvPr/>
        </p:nvSpPr>
        <p:spPr>
          <a:xfrm>
            <a:off x="5976919" y="2956396"/>
            <a:ext cx="2524144" cy="157050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44" name="Shape 37"/>
          <p:cNvSpPr/>
          <p:nvPr/>
        </p:nvSpPr>
        <p:spPr>
          <a:xfrm>
            <a:off x="5976919" y="2956396"/>
            <a:ext cx="2524144" cy="28575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45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55513" y="3168030"/>
            <a:ext cx="142875" cy="142875"/>
          </a:xfrm>
          <a:prstGeom prst="rect">
            <a:avLst/>
          </a:prstGeom>
        </p:spPr>
      </p:pic>
      <p:sp>
        <p:nvSpPr>
          <p:cNvPr id="46" name="Text 38"/>
          <p:cNvSpPr/>
          <p:nvPr/>
        </p:nvSpPr>
        <p:spPr>
          <a:xfrm>
            <a:off x="6384113" y="3134990"/>
            <a:ext cx="1396603" cy="208955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500"/>
              </a:lnSpc>
              <a:buNone/>
            </a:pPr>
            <a:r>
              <a:rPr lang="en-US" sz="1090" b="1" dirty="0">
                <a:solidFill>
                  <a:srgbClr val="102A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Simulation Control</a:t>
            </a:r>
            <a:endParaRPr lang="en-US" sz="1090" dirty="0"/>
          </a:p>
        </p:txBody>
      </p:sp>
      <p:sp>
        <p:nvSpPr>
          <p:cNvPr id="47" name="Text 39"/>
          <p:cNvSpPr/>
          <p:nvPr/>
        </p:nvSpPr>
        <p:spPr>
          <a:xfrm>
            <a:off x="6155513" y="3565401"/>
            <a:ext cx="2166956" cy="160009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485" b="1" dirty="0">
                <a:solidFill>
                  <a:srgbClr val="00A8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r>
              <a:rPr lang="en-US" sz="784" b="1" dirty="0">
                <a:solidFill>
                  <a:srgbClr val="02809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Interactive Testing</a:t>
            </a:r>
            <a:endParaRPr lang="en-US" sz="485" dirty="0"/>
          </a:p>
        </p:txBody>
      </p:sp>
      <p:sp>
        <p:nvSpPr>
          <p:cNvPr id="48" name="Text 40"/>
          <p:cNvSpPr/>
          <p:nvPr/>
        </p:nvSpPr>
        <p:spPr>
          <a:xfrm>
            <a:off x="6155513" y="3764700"/>
            <a:ext cx="1998464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Play/pause/reset controls with speed</a:t>
            </a:r>
            <a:endParaRPr lang="en-US" sz="834" dirty="0"/>
          </a:p>
        </p:txBody>
      </p:sp>
      <p:sp>
        <p:nvSpPr>
          <p:cNvPr id="49" name="Text 41"/>
          <p:cNvSpPr/>
          <p:nvPr/>
        </p:nvSpPr>
        <p:spPr>
          <a:xfrm>
            <a:off x="6155513" y="3924709"/>
            <a:ext cx="2102048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adjustment to observe model response</a:t>
            </a:r>
            <a:endParaRPr lang="en-US" sz="834" dirty="0"/>
          </a:p>
        </p:txBody>
      </p:sp>
      <p:sp>
        <p:nvSpPr>
          <p:cNvPr id="50" name="Text 42"/>
          <p:cNvSpPr/>
          <p:nvPr/>
        </p:nvSpPr>
        <p:spPr>
          <a:xfrm>
            <a:off x="6155513" y="4084718"/>
            <a:ext cx="1123355" cy="137517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300"/>
              </a:lnSpc>
              <a:buNone/>
            </a:pPr>
            <a:r>
              <a:rPr lang="en-US" sz="834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diverse scenarios.</a:t>
            </a:r>
            <a:endParaRPr lang="en-US" sz="834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2938" y="428625"/>
            <a:ext cx="7858125" cy="4572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3200"/>
              </a:lnSpc>
              <a:buNone/>
            </a:pPr>
            <a:r>
              <a:rPr lang="en-US" sz="2436" b="1" dirty="0">
                <a:solidFill>
                  <a:srgbClr val="102A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Conclusion &amp; Future Roadmap</a:t>
            </a:r>
            <a:endParaRPr lang="en-US" sz="2436" dirty="0"/>
          </a:p>
        </p:txBody>
      </p:sp>
      <p:sp>
        <p:nvSpPr>
          <p:cNvPr id="4" name="Shape 1"/>
          <p:cNvSpPr/>
          <p:nvPr/>
        </p:nvSpPr>
        <p:spPr>
          <a:xfrm>
            <a:off x="642938" y="1271588"/>
            <a:ext cx="3771900" cy="152440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Shape 2"/>
          <p:cNvSpPr/>
          <p:nvPr/>
        </p:nvSpPr>
        <p:spPr>
          <a:xfrm>
            <a:off x="642938" y="1271588"/>
            <a:ext cx="3771900" cy="28575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57250" y="1514475"/>
            <a:ext cx="171450" cy="1714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35856" y="1485900"/>
            <a:ext cx="138053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02A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Project Summary</a:t>
            </a:r>
            <a:endParaRPr lang="en-US" sz="1193" dirty="0"/>
          </a:p>
        </p:txBody>
      </p:sp>
      <p:sp>
        <p:nvSpPr>
          <p:cNvPr id="8" name="Text 4"/>
          <p:cNvSpPr/>
          <p:nvPr/>
        </p:nvSpPr>
        <p:spPr>
          <a:xfrm>
            <a:off x="857250" y="1935956"/>
            <a:ext cx="334327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621" dirty="0">
                <a:solidFill>
                  <a:srgbClr val="00A8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r>
              <a:rPr lang="en-US" sz="942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Successfully delivered a deployable, real-time, and </a:t>
            </a:r>
            <a:r>
              <a:rPr lang="en-US" sz="942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highly interpretable EDR system specifically tailored for </a:t>
            </a:r>
            <a:r>
              <a:rPr lang="en-US" sz="942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the unique constraints of ICS/OT environments.</a:t>
            </a:r>
            <a:endParaRPr lang="en-US" sz="942" dirty="0"/>
          </a:p>
        </p:txBody>
      </p:sp>
      <p:sp>
        <p:nvSpPr>
          <p:cNvPr id="9" name="Shape 5"/>
          <p:cNvSpPr/>
          <p:nvPr/>
        </p:nvSpPr>
        <p:spPr>
          <a:xfrm>
            <a:off x="642938" y="2946016"/>
            <a:ext cx="3771900" cy="1524409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0" name="Shape 6"/>
          <p:cNvSpPr/>
          <p:nvPr/>
        </p:nvSpPr>
        <p:spPr>
          <a:xfrm>
            <a:off x="642938" y="2946016"/>
            <a:ext cx="3771900" cy="28575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7250" y="3188903"/>
            <a:ext cx="128588" cy="171450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092994" y="3160328"/>
            <a:ext cx="1655564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02A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Key Accomplishment</a:t>
            </a:r>
            <a:endParaRPr lang="en-US" sz="1193" dirty="0"/>
          </a:p>
        </p:txBody>
      </p:sp>
      <p:sp>
        <p:nvSpPr>
          <p:cNvPr id="13" name="Text 8"/>
          <p:cNvSpPr/>
          <p:nvPr/>
        </p:nvSpPr>
        <p:spPr>
          <a:xfrm>
            <a:off x="857250" y="3610384"/>
            <a:ext cx="3343275" cy="61715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621" dirty="0">
                <a:solidFill>
                  <a:srgbClr val="00A8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r>
              <a:rPr lang="en-US" sz="942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Outperformed standard ML models with a **93.3% </a:t>
            </a:r>
            <a:r>
              <a:rPr lang="en-US" sz="942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F1-score** while maintaining full transparency through </a:t>
            </a:r>
            <a:r>
              <a:rPr lang="en-US" sz="942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12-formula statistical pipeline.</a:t>
            </a:r>
            <a:endParaRPr lang="en-US" sz="942" dirty="0"/>
          </a:p>
        </p:txBody>
      </p:sp>
      <p:sp>
        <p:nvSpPr>
          <p:cNvPr id="14" name="Shape 9"/>
          <p:cNvSpPr/>
          <p:nvPr/>
        </p:nvSpPr>
        <p:spPr>
          <a:xfrm>
            <a:off x="4729163" y="1271588"/>
            <a:ext cx="3771900" cy="283874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5" name="Shape 10"/>
          <p:cNvSpPr/>
          <p:nvPr/>
        </p:nvSpPr>
        <p:spPr>
          <a:xfrm>
            <a:off x="4729163" y="1271588"/>
            <a:ext cx="3771900" cy="28575"/>
          </a:xfrm>
          <a:prstGeom prst="rect">
            <a:avLst/>
          </a:prstGeom>
          <a:solidFill>
            <a:srgbClr val="028090"/>
          </a:solidFill>
          <a:ln/>
        </p:spPr>
      </p:sp>
      <p:pic>
        <p:nvPicPr>
          <p:cNvPr id="16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43475" y="1514475"/>
            <a:ext cx="192881" cy="171450"/>
          </a:xfrm>
          <a:prstGeom prst="rect">
            <a:avLst/>
          </a:prstGeom>
        </p:spPr>
      </p:pic>
      <p:sp>
        <p:nvSpPr>
          <p:cNvPr id="17" name="Text 11"/>
          <p:cNvSpPr/>
          <p:nvPr/>
        </p:nvSpPr>
        <p:spPr>
          <a:xfrm>
            <a:off x="5243513" y="1485900"/>
            <a:ext cx="1044773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1193" b="1" dirty="0">
                <a:solidFill>
                  <a:srgbClr val="102A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Future Scope</a:t>
            </a:r>
            <a:endParaRPr lang="en-US" sz="1193" dirty="0"/>
          </a:p>
        </p:txBody>
      </p:sp>
      <p:sp>
        <p:nvSpPr>
          <p:cNvPr id="18" name="Text 12"/>
          <p:cNvSpPr/>
          <p:nvPr/>
        </p:nvSpPr>
        <p:spPr>
          <a:xfrm>
            <a:off x="4943475" y="1935956"/>
            <a:ext cx="33432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621" dirty="0">
                <a:solidFill>
                  <a:srgbClr val="00A8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r>
              <a:rPr lang="en-US" sz="942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**Multi-Plant Monitoring**: Centralized visibility </a:t>
            </a:r>
            <a:r>
              <a:rPr lang="en-US" sz="942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across global industrial fleets.</a:t>
            </a:r>
            <a:endParaRPr lang="en-US" sz="942" dirty="0"/>
          </a:p>
        </p:txBody>
      </p:sp>
      <p:sp>
        <p:nvSpPr>
          <p:cNvPr id="19" name="Text 13"/>
          <p:cNvSpPr/>
          <p:nvPr/>
        </p:nvSpPr>
        <p:spPr>
          <a:xfrm>
            <a:off x="4943475" y="2418829"/>
            <a:ext cx="33432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621" dirty="0">
                <a:solidFill>
                  <a:srgbClr val="00A8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r>
              <a:rPr lang="en-US" sz="942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**Deep Learning Ensemble**: Combining statistical </a:t>
            </a:r>
            <a:r>
              <a:rPr lang="en-US" sz="942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rigor with neural pattern recognition.</a:t>
            </a:r>
            <a:endParaRPr lang="en-US" sz="942" dirty="0"/>
          </a:p>
        </p:txBody>
      </p:sp>
      <p:sp>
        <p:nvSpPr>
          <p:cNvPr id="20" name="Text 14"/>
          <p:cNvSpPr/>
          <p:nvPr/>
        </p:nvSpPr>
        <p:spPr>
          <a:xfrm>
            <a:off x="4943475" y="2901702"/>
            <a:ext cx="33432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621" dirty="0">
                <a:solidFill>
                  <a:srgbClr val="00A8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r>
              <a:rPr lang="en-US" sz="942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**Automated Response**: Direct integration with </a:t>
            </a:r>
            <a:r>
              <a:rPr lang="en-US" sz="942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PLC safety routines for instant mitigation.</a:t>
            </a:r>
            <a:endParaRPr lang="en-US" sz="942" dirty="0"/>
          </a:p>
        </p:txBody>
      </p:sp>
      <p:sp>
        <p:nvSpPr>
          <p:cNvPr id="21" name="Text 15"/>
          <p:cNvSpPr/>
          <p:nvPr/>
        </p:nvSpPr>
        <p:spPr>
          <a:xfrm>
            <a:off x="4943475" y="3384575"/>
            <a:ext cx="3343275" cy="411435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spAutoFit/>
          </a:bodyPr>
          <a:lstStyle/>
          <a:p>
            <a:pPr algn="l" indent="0" marL="0">
              <a:lnSpc>
                <a:spcPts val="1600"/>
              </a:lnSpc>
              <a:buNone/>
            </a:pPr>
            <a:r>
              <a:rPr lang="en-US" sz="621" dirty="0">
                <a:solidFill>
                  <a:srgbClr val="00A89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■</a:t>
            </a:r>
            <a:r>
              <a:rPr lang="en-US" sz="942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**Protocol Analysis**: Adding support for Modbus </a:t>
            </a:r>
            <a:r>
              <a:rPr lang="en-US" sz="942" dirty="0">
                <a:solidFill>
                  <a:srgbClr val="334E68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DNP3 packet-level inspection.</a:t>
            </a:r>
            <a:endParaRPr lang="en-US" sz="942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pic>
        <p:nvPicPr>
          <p:cNvPr id="3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 rot="900000">
            <a:off x="-357187" y="2643188"/>
            <a:ext cx="3571875" cy="285750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3104852" y="1884527"/>
            <a:ext cx="2934295" cy="660071"/>
          </a:xfrm>
          <a:prstGeom prst="rect">
            <a:avLst/>
          </a:prstGeom>
          <a:noFill/>
          <a:ln/>
        </p:spPr>
        <p:txBody>
          <a:bodyPr wrap="none" lIns="0" tIns="0" rIns="0" bIns="0" rtlCol="0" anchor="t">
            <a:spAutoFit/>
          </a:bodyPr>
          <a:lstStyle/>
          <a:p>
            <a:pPr algn="ctr" indent="0" marL="0">
              <a:lnSpc>
                <a:spcPts val="5200"/>
              </a:lnSpc>
              <a:buNone/>
            </a:pPr>
            <a:r>
              <a:rPr lang="en-US" sz="4353" b="1" dirty="0">
                <a:solidFill>
                  <a:srgbClr val="102A43"/>
                </a:solidFill>
                <a:latin typeface="Playfair Display" pitchFamily="34" charset="0"/>
                <a:ea typeface="Playfair Display" pitchFamily="34" charset="-122"/>
                <a:cs typeface="Playfair Display" pitchFamily="34" charset="-120"/>
              </a:rPr>
              <a:t>Thank You</a:t>
            </a:r>
            <a:endParaRPr lang="en-US" sz="4353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12</Slides>
  <Notes>12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2026-04-05T16:48:19Z</dcterms:created>
  <dcterms:modified xsi:type="dcterms:W3CDTF">2026-04-05T16:48:19Z</dcterms:modified>
</cp:coreProperties>
</file>